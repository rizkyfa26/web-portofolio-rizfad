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Poppins Bold" charset="1" panose="00000800000000000000"/>
      <p:regular r:id="rId19"/>
    </p:embeddedFont>
    <p:embeddedFont>
      <p:font typeface="Canva Sans" charset="1" panose="020B0503030501040103"/>
      <p:regular r:id="rId20"/>
    </p:embeddedFont>
    <p:embeddedFont>
      <p:font typeface="Canva Sans Bold" charset="1" panose="020B0803030501040103"/>
      <p:regular r:id="rId21"/>
    </p:embeddedFont>
    <p:embeddedFont>
      <p:font typeface="Poppins" charset="1" panose="000005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11.png" Type="http://schemas.openxmlformats.org/officeDocument/2006/relationships/image"/><Relationship Id="rId12" Target="../media/image12.svg" Type="http://schemas.openxmlformats.org/officeDocument/2006/relationships/image"/><Relationship Id="rId13" Target="../media/image13.png" Type="http://schemas.openxmlformats.org/officeDocument/2006/relationships/image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11.png" Type="http://schemas.openxmlformats.org/officeDocument/2006/relationships/image"/><Relationship Id="rId12" Target="../media/image12.sv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11.png" Type="http://schemas.openxmlformats.org/officeDocument/2006/relationships/image"/><Relationship Id="rId12" Target="../media/image12.svg" Type="http://schemas.openxmlformats.org/officeDocument/2006/relationships/image"/><Relationship Id="rId13" Target="../media/image15.png" Type="http://schemas.openxmlformats.org/officeDocument/2006/relationships/image"/><Relationship Id="rId14" Target="../media/image16.svg" Type="http://schemas.openxmlformats.org/officeDocument/2006/relationships/image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17.png" Type="http://schemas.openxmlformats.org/officeDocument/2006/relationships/image"/><Relationship Id="rId12" Target="../media/image18.svg" Type="http://schemas.openxmlformats.org/officeDocument/2006/relationships/image"/><Relationship Id="rId13" Target="../media/image19.png" Type="http://schemas.openxmlformats.org/officeDocument/2006/relationships/image"/><Relationship Id="rId14" Target="../media/image20.svg" Type="http://schemas.openxmlformats.org/officeDocument/2006/relationships/image"/><Relationship Id="rId15" Target="../media/image21.png" Type="http://schemas.openxmlformats.org/officeDocument/2006/relationships/image"/><Relationship Id="rId16" Target="../media/image22.svg" Type="http://schemas.openxmlformats.org/officeDocument/2006/relationships/image"/><Relationship Id="rId17" Target="../media/image11.png" Type="http://schemas.openxmlformats.org/officeDocument/2006/relationships/image"/><Relationship Id="rId18" Target="../media/image12.svg" Type="http://schemas.openxmlformats.org/officeDocument/2006/relationships/image"/><Relationship Id="rId19" Target="../media/image23.png" Type="http://schemas.openxmlformats.org/officeDocument/2006/relationships/image"/><Relationship Id="rId2" Target="../media/image2.jpeg" Type="http://schemas.openxmlformats.org/officeDocument/2006/relationships/image"/><Relationship Id="rId20" Target="../media/image24.svg" Type="http://schemas.openxmlformats.org/officeDocument/2006/relationships/image"/><Relationship Id="rId21" Target="../media/image25.png" Type="http://schemas.openxmlformats.org/officeDocument/2006/relationships/image"/><Relationship Id="rId22" Target="../media/image26.svg" Type="http://schemas.openxmlformats.org/officeDocument/2006/relationships/image"/><Relationship Id="rId23" Target="../media/image27.png" Type="http://schemas.openxmlformats.org/officeDocument/2006/relationships/image"/><Relationship Id="rId24" Target="../media/image28.sv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29.png" Type="http://schemas.openxmlformats.org/officeDocument/2006/relationships/image"/><Relationship Id="rId12" Target="../media/image30.png" Type="http://schemas.openxmlformats.org/officeDocument/2006/relationships/image"/><Relationship Id="rId13" Target="../media/image31.svg" Type="http://schemas.openxmlformats.org/officeDocument/2006/relationships/image"/><Relationship Id="rId14" Target="../media/image11.png" Type="http://schemas.openxmlformats.org/officeDocument/2006/relationships/image"/><Relationship Id="rId15" Target="../media/image12.svg" Type="http://schemas.openxmlformats.org/officeDocument/2006/relationships/image"/><Relationship Id="rId16" Target="../media/image32.png" Type="http://schemas.openxmlformats.org/officeDocument/2006/relationships/image"/><Relationship Id="rId17" Target="../media/image33.svg" Type="http://schemas.openxmlformats.org/officeDocument/2006/relationships/image"/><Relationship Id="rId18" Target="../media/image34.png" Type="http://schemas.openxmlformats.org/officeDocument/2006/relationships/image"/><Relationship Id="rId19" Target="../media/image35.svg" Type="http://schemas.openxmlformats.org/officeDocument/2006/relationships/image"/><Relationship Id="rId2" Target="../media/image2.jpeg" Type="http://schemas.openxmlformats.org/officeDocument/2006/relationships/image"/><Relationship Id="rId20" Target="../media/image36.png" Type="http://schemas.openxmlformats.org/officeDocument/2006/relationships/image"/><Relationship Id="rId21" Target="../media/image37.svg" Type="http://schemas.openxmlformats.org/officeDocument/2006/relationships/image"/><Relationship Id="rId22" Target="../media/image38.png" Type="http://schemas.openxmlformats.org/officeDocument/2006/relationships/image"/><Relationship Id="rId23" Target="../media/image39.svg" Type="http://schemas.openxmlformats.org/officeDocument/2006/relationships/image"/><Relationship Id="rId24" Target="https://colab.research.google.com/drive/1nPJj3q3xsfNEPD-qH0ha4mSpXfgnsgTk?usp=sharing" TargetMode="External" Type="http://schemas.openxmlformats.org/officeDocument/2006/relationships/hyperlink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11.png" Type="http://schemas.openxmlformats.org/officeDocument/2006/relationships/image"/><Relationship Id="rId12" Target="../media/image12.svg" Type="http://schemas.openxmlformats.org/officeDocument/2006/relationships/image"/><Relationship Id="rId13" Target="../media/image40.png" Type="http://schemas.openxmlformats.org/officeDocument/2006/relationships/image"/><Relationship Id="rId14" Target="https://colab.research.google.com/drive/1PbOYLBBjsZIY5UFrJVF89rX6a7_NDiEE?usp=sharing" TargetMode="External" Type="http://schemas.openxmlformats.org/officeDocument/2006/relationships/hyperlink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11.png" Type="http://schemas.openxmlformats.org/officeDocument/2006/relationships/image"/><Relationship Id="rId12" Target="../media/image12.svg" Type="http://schemas.openxmlformats.org/officeDocument/2006/relationships/image"/><Relationship Id="rId13" Target="../media/image41.png" Type="http://schemas.openxmlformats.org/officeDocument/2006/relationships/image"/><Relationship Id="rId14" Target="../media/image42.png" Type="http://schemas.openxmlformats.org/officeDocument/2006/relationships/image"/><Relationship Id="rId15" Target="https://public.tableau.com/app/profile/dewi.ayu8697/viz/Finpro_17746833462660/Dashboard3?publish=yes" TargetMode="External" Type="http://schemas.openxmlformats.org/officeDocument/2006/relationships/hyperlink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11.png" Type="http://schemas.openxmlformats.org/officeDocument/2006/relationships/image"/><Relationship Id="rId12" Target="../media/image12.svg" Type="http://schemas.openxmlformats.org/officeDocument/2006/relationships/image"/><Relationship Id="rId13" Target="../media/image43.jpeg" Type="http://schemas.openxmlformats.org/officeDocument/2006/relationships/image"/><Relationship Id="rId14" Target="../media/image44.jpeg" Type="http://schemas.openxmlformats.org/officeDocument/2006/relationships/image"/><Relationship Id="rId15" Target="../media/image45.jpeg" Type="http://schemas.openxmlformats.org/officeDocument/2006/relationships/image"/><Relationship Id="rId16" Target="../media/image46.jpeg" Type="http://schemas.openxmlformats.org/officeDocument/2006/relationships/image"/><Relationship Id="rId17" Target="../media/image47.png" Type="http://schemas.openxmlformats.org/officeDocument/2006/relationships/image"/><Relationship Id="rId18" Target="../media/image48.png" Type="http://schemas.openxmlformats.org/officeDocument/2006/relationships/image"/><Relationship Id="rId19" Target="../media/image49.png" Type="http://schemas.openxmlformats.org/officeDocument/2006/relationships/image"/><Relationship Id="rId2" Target="../media/image2.jpeg" Type="http://schemas.openxmlformats.org/officeDocument/2006/relationships/image"/><Relationship Id="rId20" Target="https://colab.research.google.com/drive/1nPJj3q3xsfNEPD-qH0ha4mSpXfgnsgTk?usp=sharing" TargetMode="External" Type="http://schemas.openxmlformats.org/officeDocument/2006/relationships/hyperlink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https://public.tableau.com/app/profile/dewi.ayu8697/viz/Finpro_17746833462660/Dashboard3?publish=yes" TargetMode="External" Type="http://schemas.openxmlformats.org/officeDocument/2006/relationships/hyperlink"/><Relationship Id="rId12" Target="../media/image50.png" Type="http://schemas.openxmlformats.org/officeDocument/2006/relationships/image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11" Target="../media/image51.png" Type="http://schemas.openxmlformats.org/officeDocument/2006/relationships/image"/><Relationship Id="rId12" Target="../media/image52.svg" Type="http://schemas.openxmlformats.org/officeDocument/2006/relationships/image"/><Relationship Id="rId13" Target="../media/image53.png" Type="http://schemas.openxmlformats.org/officeDocument/2006/relationships/image"/><Relationship Id="rId14" Target="../media/image54.svg" Type="http://schemas.openxmlformats.org/officeDocument/2006/relationships/image"/><Relationship Id="rId15" Target="../media/image55.png" Type="http://schemas.openxmlformats.org/officeDocument/2006/relationships/image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svg" Type="http://schemas.openxmlformats.org/officeDocument/2006/relationships/image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06637" y="-1429341"/>
            <a:ext cx="18793355" cy="12450598"/>
          </a:xfrm>
          <a:custGeom>
            <a:avLst/>
            <a:gdLst/>
            <a:ahLst/>
            <a:cxnLst/>
            <a:rect r="r" b="b" t="t" l="l"/>
            <a:pathLst>
              <a:path h="12450598" w="18793355">
                <a:moveTo>
                  <a:pt x="0" y="0"/>
                </a:moveTo>
                <a:lnTo>
                  <a:pt x="18793355" y="0"/>
                </a:lnTo>
                <a:lnTo>
                  <a:pt x="18793355" y="12450598"/>
                </a:lnTo>
                <a:lnTo>
                  <a:pt x="0" y="124505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82201" y="2948893"/>
            <a:ext cx="15523598" cy="350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79"/>
              </a:lnSpc>
              <a:spcBef>
                <a:spcPct val="0"/>
              </a:spcBef>
            </a:pPr>
            <a:r>
              <a:rPr lang="en-US" b="true" sz="6557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SISTEM PREDIKSI RISIKO DIABETES BERDASARKAN INDIKATOR GAYA HIDUP MASYARAKAT URBAN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5550178" y="7007820"/>
            <a:ext cx="7079726" cy="867965"/>
            <a:chOff x="0" y="0"/>
            <a:chExt cx="1864619" cy="228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64619" cy="228600"/>
            </a:xfrm>
            <a:custGeom>
              <a:avLst/>
              <a:gdLst/>
              <a:ahLst/>
              <a:cxnLst/>
              <a:rect r="r" b="b" t="t" l="l"/>
              <a:pathLst>
                <a:path h="228600" w="1864619">
                  <a:moveTo>
                    <a:pt x="54677" y="0"/>
                  </a:moveTo>
                  <a:lnTo>
                    <a:pt x="1809943" y="0"/>
                  </a:lnTo>
                  <a:cubicBezTo>
                    <a:pt x="1840140" y="0"/>
                    <a:pt x="1864619" y="24480"/>
                    <a:pt x="1864619" y="54677"/>
                  </a:cubicBezTo>
                  <a:lnTo>
                    <a:pt x="1864619" y="173923"/>
                  </a:lnTo>
                  <a:cubicBezTo>
                    <a:pt x="1864619" y="188424"/>
                    <a:pt x="1858859" y="202332"/>
                    <a:pt x="1848605" y="212585"/>
                  </a:cubicBezTo>
                  <a:cubicBezTo>
                    <a:pt x="1838351" y="222839"/>
                    <a:pt x="1824444" y="228600"/>
                    <a:pt x="1809943" y="228600"/>
                  </a:cubicBezTo>
                  <a:lnTo>
                    <a:pt x="54677" y="228600"/>
                  </a:lnTo>
                  <a:cubicBezTo>
                    <a:pt x="24480" y="228600"/>
                    <a:pt x="0" y="204120"/>
                    <a:pt x="0" y="173923"/>
                  </a:cubicBezTo>
                  <a:lnTo>
                    <a:pt x="0" y="54677"/>
                  </a:lnTo>
                  <a:cubicBezTo>
                    <a:pt x="0" y="24480"/>
                    <a:pt x="24480" y="0"/>
                    <a:pt x="54677" y="0"/>
                  </a:cubicBezTo>
                  <a:close/>
                </a:path>
              </a:pathLst>
            </a:custGeom>
            <a:solidFill>
              <a:srgbClr val="35A0A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864619" cy="285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6177772" y="7217331"/>
            <a:ext cx="5510506" cy="391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b="true" sz="22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SDG 3: GOOD HEALTH AND WELL-BEING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3990962" y="8923655"/>
            <a:ext cx="10306076" cy="334645"/>
            <a:chOff x="0" y="0"/>
            <a:chExt cx="13741435" cy="446193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-57150"/>
              <a:ext cx="5022907" cy="5033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80"/>
                </a:lnSpc>
                <a:spcBef>
                  <a:spcPct val="0"/>
                </a:spcBef>
              </a:pPr>
              <a:r>
                <a:rPr lang="en-US" b="true" sz="2200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DEWI AYU FADHILLAH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4605538" y="-57150"/>
              <a:ext cx="5022907" cy="5033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80"/>
                </a:lnSpc>
                <a:spcBef>
                  <a:spcPct val="0"/>
                </a:spcBef>
              </a:pPr>
              <a:r>
                <a:rPr lang="en-US" b="true" sz="2200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RIZKY FADILAH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8718528" y="-57150"/>
              <a:ext cx="5022907" cy="5033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80"/>
                </a:lnSpc>
                <a:spcBef>
                  <a:spcPct val="0"/>
                </a:spcBef>
              </a:pPr>
              <a:r>
                <a:rPr lang="en-US" b="true" sz="2200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TALITHA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-28575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5"/>
                </a:lnTo>
                <a:lnTo>
                  <a:pt x="0" y="123361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657225"/>
            <a:ext cx="16230600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Latar Belakang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702001" y="2222321"/>
            <a:ext cx="10899961" cy="5020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Diabetes melitus kini mulai menyerang usia produktif di Indonesia akibat perubahan gaya hidup urban yang serba cepat, pola makan tidak sehat dan kurangnya aktivitas fisik menjadi pemicunya.</a:t>
            </a:r>
          </a:p>
          <a:p>
            <a:pPr algn="just">
              <a:lnSpc>
                <a:spcPts val="3640"/>
              </a:lnSpc>
            </a:p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Ironisnya, banyak masyarakat tidak menyadari risiko mereka karena deteksi dini masih bergantung pada tes laboratorium yang mahal dan tidak selalu mudah diakses. </a:t>
            </a:r>
          </a:p>
          <a:p>
            <a:pPr algn="just">
              <a:lnSpc>
                <a:spcPts val="3640"/>
              </a:lnSpc>
            </a:p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Dengan memanfaatkan data indikator kesehatan dasar, kita dapat membangun sistem peringatan dini yang terjangkau — selaras dengan SDG 3: Good Health and Well-being.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498206" y="-405336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762466" y="9931837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290725" y="9931837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7762466" y="-310086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5183557" y="1678545"/>
            <a:ext cx="348903" cy="348903"/>
          </a:xfrm>
          <a:custGeom>
            <a:avLst/>
            <a:gdLst/>
            <a:ahLst/>
            <a:cxnLst/>
            <a:rect r="r" b="b" t="t" l="l"/>
            <a:pathLst>
              <a:path h="348903" w="348903">
                <a:moveTo>
                  <a:pt x="0" y="0"/>
                </a:moveTo>
                <a:lnTo>
                  <a:pt x="348903" y="0"/>
                </a:lnTo>
                <a:lnTo>
                  <a:pt x="348903" y="348903"/>
                </a:lnTo>
                <a:lnTo>
                  <a:pt x="0" y="348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3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527550" y="9258300"/>
            <a:ext cx="348903" cy="348903"/>
          </a:xfrm>
          <a:custGeom>
            <a:avLst/>
            <a:gdLst/>
            <a:ahLst/>
            <a:cxnLst/>
            <a:rect r="r" b="b" t="t" l="l"/>
            <a:pathLst>
              <a:path h="348903" w="348903">
                <a:moveTo>
                  <a:pt x="0" y="0"/>
                </a:moveTo>
                <a:lnTo>
                  <a:pt x="348903" y="0"/>
                </a:lnTo>
                <a:lnTo>
                  <a:pt x="348903" y="348903"/>
                </a:lnTo>
                <a:lnTo>
                  <a:pt x="0" y="348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3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533576" y="661297"/>
            <a:ext cx="1295049" cy="1506966"/>
            <a:chOff x="0" y="0"/>
            <a:chExt cx="1726732" cy="2009288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1726732" cy="2009288"/>
              <a:chOff x="0" y="0"/>
              <a:chExt cx="6985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A769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83564" y="284972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true" flipV="false" rot="0">
            <a:off x="14255575" y="6458656"/>
            <a:ext cx="3332909" cy="2799644"/>
          </a:xfrm>
          <a:custGeom>
            <a:avLst/>
            <a:gdLst/>
            <a:ahLst/>
            <a:cxnLst/>
            <a:rect r="r" b="b" t="t" l="l"/>
            <a:pathLst>
              <a:path h="2799644" w="3332909">
                <a:moveTo>
                  <a:pt x="3332910" y="0"/>
                </a:moveTo>
                <a:lnTo>
                  <a:pt x="0" y="0"/>
                </a:lnTo>
                <a:lnTo>
                  <a:pt x="0" y="2799644"/>
                </a:lnTo>
                <a:lnTo>
                  <a:pt x="3332910" y="2799644"/>
                </a:lnTo>
                <a:lnTo>
                  <a:pt x="333291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290574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5"/>
                </a:lnTo>
                <a:lnTo>
                  <a:pt x="0" y="123361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657225"/>
            <a:ext cx="16230600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Tujuan Proyek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8206" y="-405336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762466" y="9931837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290725" y="9931837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762466" y="-310086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83557" y="1678545"/>
            <a:ext cx="348903" cy="348903"/>
          </a:xfrm>
          <a:custGeom>
            <a:avLst/>
            <a:gdLst/>
            <a:ahLst/>
            <a:cxnLst/>
            <a:rect r="r" b="b" t="t" l="l"/>
            <a:pathLst>
              <a:path h="348903" w="348903">
                <a:moveTo>
                  <a:pt x="0" y="0"/>
                </a:moveTo>
                <a:lnTo>
                  <a:pt x="348903" y="0"/>
                </a:lnTo>
                <a:lnTo>
                  <a:pt x="348903" y="348903"/>
                </a:lnTo>
                <a:lnTo>
                  <a:pt x="0" y="348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3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527550" y="9258300"/>
            <a:ext cx="348903" cy="348903"/>
          </a:xfrm>
          <a:custGeom>
            <a:avLst/>
            <a:gdLst/>
            <a:ahLst/>
            <a:cxnLst/>
            <a:rect r="r" b="b" t="t" l="l"/>
            <a:pathLst>
              <a:path h="348903" w="348903">
                <a:moveTo>
                  <a:pt x="0" y="0"/>
                </a:moveTo>
                <a:lnTo>
                  <a:pt x="348903" y="0"/>
                </a:lnTo>
                <a:lnTo>
                  <a:pt x="348903" y="348903"/>
                </a:lnTo>
                <a:lnTo>
                  <a:pt x="0" y="348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3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533576" y="661297"/>
            <a:ext cx="1295049" cy="1506966"/>
            <a:chOff x="0" y="0"/>
            <a:chExt cx="1726732" cy="2009288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1726732" cy="2009288"/>
              <a:chOff x="0" y="0"/>
              <a:chExt cx="698500" cy="8128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A769F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83564" y="284972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</a:t>
              </a:r>
            </a:p>
          </p:txBody>
        </p:sp>
      </p:grpSp>
      <p:sp>
        <p:nvSpPr>
          <p:cNvPr name="Freeform 15" id="15"/>
          <p:cNvSpPr/>
          <p:nvPr/>
        </p:nvSpPr>
        <p:spPr>
          <a:xfrm flipH="true" flipV="false" rot="0">
            <a:off x="14255575" y="6458656"/>
            <a:ext cx="3332909" cy="2799644"/>
          </a:xfrm>
          <a:custGeom>
            <a:avLst/>
            <a:gdLst/>
            <a:ahLst/>
            <a:cxnLst/>
            <a:rect r="r" b="b" t="t" l="l"/>
            <a:pathLst>
              <a:path h="2799644" w="3332909">
                <a:moveTo>
                  <a:pt x="3332910" y="0"/>
                </a:moveTo>
                <a:lnTo>
                  <a:pt x="0" y="0"/>
                </a:lnTo>
                <a:lnTo>
                  <a:pt x="0" y="2799644"/>
                </a:lnTo>
                <a:lnTo>
                  <a:pt x="3332910" y="2799644"/>
                </a:lnTo>
                <a:lnTo>
                  <a:pt x="333291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28700" y="5143500"/>
            <a:ext cx="5001455" cy="1928215"/>
            <a:chOff x="0" y="0"/>
            <a:chExt cx="1317256" cy="50784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17256" cy="507843"/>
            </a:xfrm>
            <a:custGeom>
              <a:avLst/>
              <a:gdLst/>
              <a:ahLst/>
              <a:cxnLst/>
              <a:rect r="r" b="b" t="t" l="l"/>
              <a:pathLst>
                <a:path h="507843" w="1317256">
                  <a:moveTo>
                    <a:pt x="77397" y="0"/>
                  </a:moveTo>
                  <a:lnTo>
                    <a:pt x="1239859" y="0"/>
                  </a:lnTo>
                  <a:cubicBezTo>
                    <a:pt x="1260386" y="0"/>
                    <a:pt x="1280072" y="8154"/>
                    <a:pt x="1294587" y="22669"/>
                  </a:cubicBezTo>
                  <a:cubicBezTo>
                    <a:pt x="1309101" y="37184"/>
                    <a:pt x="1317256" y="56870"/>
                    <a:pt x="1317256" y="77397"/>
                  </a:cubicBezTo>
                  <a:lnTo>
                    <a:pt x="1317256" y="430446"/>
                  </a:lnTo>
                  <a:cubicBezTo>
                    <a:pt x="1317256" y="473191"/>
                    <a:pt x="1282604" y="507843"/>
                    <a:pt x="1239859" y="507843"/>
                  </a:cubicBezTo>
                  <a:lnTo>
                    <a:pt x="77397" y="507843"/>
                  </a:lnTo>
                  <a:cubicBezTo>
                    <a:pt x="56870" y="507843"/>
                    <a:pt x="37184" y="499688"/>
                    <a:pt x="22669" y="485174"/>
                  </a:cubicBezTo>
                  <a:cubicBezTo>
                    <a:pt x="8154" y="470659"/>
                    <a:pt x="0" y="450973"/>
                    <a:pt x="0" y="430446"/>
                  </a:cubicBezTo>
                  <a:lnTo>
                    <a:pt x="0" y="77397"/>
                  </a:lnTo>
                  <a:cubicBezTo>
                    <a:pt x="0" y="56870"/>
                    <a:pt x="8154" y="37184"/>
                    <a:pt x="22669" y="22669"/>
                  </a:cubicBezTo>
                  <a:cubicBezTo>
                    <a:pt x="37184" y="8154"/>
                    <a:pt x="56870" y="0"/>
                    <a:pt x="77397" y="0"/>
                  </a:cubicBezTo>
                  <a:close/>
                </a:path>
              </a:pathLst>
            </a:custGeom>
            <a:solidFill>
              <a:srgbClr val="35A0A4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317256" cy="5649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true" flipV="false" rot="-2999345">
            <a:off x="5827198" y="7083318"/>
            <a:ext cx="748703" cy="683815"/>
          </a:xfrm>
          <a:custGeom>
            <a:avLst/>
            <a:gdLst/>
            <a:ahLst/>
            <a:cxnLst/>
            <a:rect r="r" b="b" t="t" l="l"/>
            <a:pathLst>
              <a:path h="683815" w="748703">
                <a:moveTo>
                  <a:pt x="748703" y="0"/>
                </a:moveTo>
                <a:lnTo>
                  <a:pt x="0" y="0"/>
                </a:lnTo>
                <a:lnTo>
                  <a:pt x="0" y="683815"/>
                </a:lnTo>
                <a:lnTo>
                  <a:pt x="748703" y="683815"/>
                </a:lnTo>
                <a:lnTo>
                  <a:pt x="748703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3702001" y="2222321"/>
            <a:ext cx="10899961" cy="136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Tujuan Utama: Mengembangkan sistem Early Warning (peringatan dini) berbasis model klasifikasi Machine Learning untuk mengidentifikasi risiko Diabetes secara akurat.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82320" y="5258436"/>
            <a:ext cx="4494216" cy="15064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69"/>
              </a:lnSpc>
            </a:pPr>
            <a:r>
              <a:rPr lang="en-US" sz="219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Mengetahui faktor gaya hidup mana yang paling berkontribusi terhadap tingginya risiko diabetes.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201550" y="5143500"/>
            <a:ext cx="5001455" cy="1928215"/>
            <a:chOff x="0" y="0"/>
            <a:chExt cx="1317256" cy="507843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17256" cy="507843"/>
            </a:xfrm>
            <a:custGeom>
              <a:avLst/>
              <a:gdLst/>
              <a:ahLst/>
              <a:cxnLst/>
              <a:rect r="r" b="b" t="t" l="l"/>
              <a:pathLst>
                <a:path h="507843" w="1317256">
                  <a:moveTo>
                    <a:pt x="77397" y="0"/>
                  </a:moveTo>
                  <a:lnTo>
                    <a:pt x="1239859" y="0"/>
                  </a:lnTo>
                  <a:cubicBezTo>
                    <a:pt x="1260386" y="0"/>
                    <a:pt x="1280072" y="8154"/>
                    <a:pt x="1294587" y="22669"/>
                  </a:cubicBezTo>
                  <a:cubicBezTo>
                    <a:pt x="1309101" y="37184"/>
                    <a:pt x="1317256" y="56870"/>
                    <a:pt x="1317256" y="77397"/>
                  </a:cubicBezTo>
                  <a:lnTo>
                    <a:pt x="1317256" y="430446"/>
                  </a:lnTo>
                  <a:cubicBezTo>
                    <a:pt x="1317256" y="473191"/>
                    <a:pt x="1282604" y="507843"/>
                    <a:pt x="1239859" y="507843"/>
                  </a:cubicBezTo>
                  <a:lnTo>
                    <a:pt x="77397" y="507843"/>
                  </a:lnTo>
                  <a:cubicBezTo>
                    <a:pt x="56870" y="507843"/>
                    <a:pt x="37184" y="499688"/>
                    <a:pt x="22669" y="485174"/>
                  </a:cubicBezTo>
                  <a:cubicBezTo>
                    <a:pt x="8154" y="470659"/>
                    <a:pt x="0" y="450973"/>
                    <a:pt x="0" y="430446"/>
                  </a:cubicBezTo>
                  <a:lnTo>
                    <a:pt x="0" y="77397"/>
                  </a:lnTo>
                  <a:cubicBezTo>
                    <a:pt x="0" y="56870"/>
                    <a:pt x="8154" y="37184"/>
                    <a:pt x="22669" y="22669"/>
                  </a:cubicBezTo>
                  <a:cubicBezTo>
                    <a:pt x="37184" y="8154"/>
                    <a:pt x="56870" y="0"/>
                    <a:pt x="77397" y="0"/>
                  </a:cubicBezTo>
                  <a:close/>
                </a:path>
              </a:pathLst>
            </a:custGeom>
            <a:solidFill>
              <a:srgbClr val="35A0A4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1317256" cy="5649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455169" y="5258436"/>
            <a:ext cx="4494216" cy="1660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49"/>
              </a:lnSpc>
            </a:pPr>
            <a:r>
              <a:rPr lang="en-US" sz="239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Membangun sistem klasifikasi Machine Learning yang akurat untuk membedakan kategori "Sehat" dan "Berisiko".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1374455" y="5143500"/>
            <a:ext cx="5001455" cy="1928215"/>
            <a:chOff x="0" y="0"/>
            <a:chExt cx="1317256" cy="50784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17256" cy="507843"/>
            </a:xfrm>
            <a:custGeom>
              <a:avLst/>
              <a:gdLst/>
              <a:ahLst/>
              <a:cxnLst/>
              <a:rect r="r" b="b" t="t" l="l"/>
              <a:pathLst>
                <a:path h="507843" w="1317256">
                  <a:moveTo>
                    <a:pt x="77397" y="0"/>
                  </a:moveTo>
                  <a:lnTo>
                    <a:pt x="1239859" y="0"/>
                  </a:lnTo>
                  <a:cubicBezTo>
                    <a:pt x="1260386" y="0"/>
                    <a:pt x="1280072" y="8154"/>
                    <a:pt x="1294587" y="22669"/>
                  </a:cubicBezTo>
                  <a:cubicBezTo>
                    <a:pt x="1309101" y="37184"/>
                    <a:pt x="1317256" y="56870"/>
                    <a:pt x="1317256" y="77397"/>
                  </a:cubicBezTo>
                  <a:lnTo>
                    <a:pt x="1317256" y="430446"/>
                  </a:lnTo>
                  <a:cubicBezTo>
                    <a:pt x="1317256" y="473191"/>
                    <a:pt x="1282604" y="507843"/>
                    <a:pt x="1239859" y="507843"/>
                  </a:cubicBezTo>
                  <a:lnTo>
                    <a:pt x="77397" y="507843"/>
                  </a:lnTo>
                  <a:cubicBezTo>
                    <a:pt x="56870" y="507843"/>
                    <a:pt x="37184" y="499688"/>
                    <a:pt x="22669" y="485174"/>
                  </a:cubicBezTo>
                  <a:cubicBezTo>
                    <a:pt x="8154" y="470659"/>
                    <a:pt x="0" y="450973"/>
                    <a:pt x="0" y="430446"/>
                  </a:cubicBezTo>
                  <a:lnTo>
                    <a:pt x="0" y="77397"/>
                  </a:lnTo>
                  <a:cubicBezTo>
                    <a:pt x="0" y="56870"/>
                    <a:pt x="8154" y="37184"/>
                    <a:pt x="22669" y="22669"/>
                  </a:cubicBezTo>
                  <a:cubicBezTo>
                    <a:pt x="37184" y="8154"/>
                    <a:pt x="56870" y="0"/>
                    <a:pt x="77397" y="0"/>
                  </a:cubicBezTo>
                  <a:close/>
                </a:path>
              </a:pathLst>
            </a:custGeom>
            <a:solidFill>
              <a:srgbClr val="35A0A4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1317256" cy="5649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631630" y="5364555"/>
            <a:ext cx="4588225" cy="1554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39"/>
              </a:lnSpc>
            </a:pPr>
            <a:r>
              <a:rPr lang="en-US" sz="181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Membangun model prediktif hanya menggunakan indikator kesehatan dasar (seperti tekanan darah, BMI, usia, aktivitas fisik) </a:t>
            </a:r>
            <a:r>
              <a:rPr lang="en-US" b="true" sz="1814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tanpa memerlukan data tes laboratorium.</a:t>
            </a:r>
          </a:p>
        </p:txBody>
      </p:sp>
      <p:sp>
        <p:nvSpPr>
          <p:cNvPr name="Freeform 30" id="30"/>
          <p:cNvSpPr/>
          <p:nvPr/>
        </p:nvSpPr>
        <p:spPr>
          <a:xfrm flipH="true" flipV="false" rot="-2999345">
            <a:off x="10872390" y="7083318"/>
            <a:ext cx="748703" cy="683815"/>
          </a:xfrm>
          <a:custGeom>
            <a:avLst/>
            <a:gdLst/>
            <a:ahLst/>
            <a:cxnLst/>
            <a:rect r="r" b="b" t="t" l="l"/>
            <a:pathLst>
              <a:path h="683815" w="748703">
                <a:moveTo>
                  <a:pt x="748702" y="0"/>
                </a:moveTo>
                <a:lnTo>
                  <a:pt x="0" y="0"/>
                </a:lnTo>
                <a:lnTo>
                  <a:pt x="0" y="683815"/>
                </a:lnTo>
                <a:lnTo>
                  <a:pt x="748702" y="683815"/>
                </a:lnTo>
                <a:lnTo>
                  <a:pt x="748702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98206" y="-405336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762466" y="9931837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90725" y="9931837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762466" y="-310086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181100" y="866775"/>
            <a:ext cx="16230600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 (Stakeholder)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947423" y="2593491"/>
            <a:ext cx="810173" cy="348903"/>
            <a:chOff x="0" y="0"/>
            <a:chExt cx="1080231" cy="46520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65204" cy="465204"/>
            </a:xfrm>
            <a:custGeom>
              <a:avLst/>
              <a:gdLst/>
              <a:ahLst/>
              <a:cxnLst/>
              <a:rect r="r" b="b" t="t" l="l"/>
              <a:pathLst>
                <a:path h="465204" w="465204">
                  <a:moveTo>
                    <a:pt x="0" y="0"/>
                  </a:moveTo>
                  <a:lnTo>
                    <a:pt x="465204" y="0"/>
                  </a:lnTo>
                  <a:lnTo>
                    <a:pt x="465204" y="465204"/>
                  </a:lnTo>
                  <a:lnTo>
                    <a:pt x="0" y="465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alphaModFix amt="30000"/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15028" y="0"/>
              <a:ext cx="465204" cy="465204"/>
            </a:xfrm>
            <a:custGeom>
              <a:avLst/>
              <a:gdLst/>
              <a:ahLst/>
              <a:cxnLst/>
              <a:rect r="r" b="b" t="t" l="l"/>
              <a:pathLst>
                <a:path h="465204" w="465204">
                  <a:moveTo>
                    <a:pt x="0" y="0"/>
                  </a:moveTo>
                  <a:lnTo>
                    <a:pt x="465203" y="0"/>
                  </a:lnTo>
                  <a:lnTo>
                    <a:pt x="465203" y="465204"/>
                  </a:lnTo>
                  <a:lnTo>
                    <a:pt x="0" y="465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alphaModFix amt="30000"/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4857761" y="2894769"/>
            <a:ext cx="8572478" cy="416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Fasilitas Kesehatan (Puskesmas): Alat screening cepat untuk pasien.</a:t>
            </a:r>
          </a:p>
          <a:p>
            <a:pPr algn="l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Masyarakat Umum: Aplikasi pengecekan risiko mandiri.</a:t>
            </a:r>
          </a:p>
          <a:p>
            <a:pPr algn="l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Perusahaan Asuransi: Mitigasi risiko kesehatan nasabah.</a:t>
            </a:r>
          </a:p>
          <a:p>
            <a:pPr algn="l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Manajemen Perusahaan (HRD): Program kesehatan karyawan berbasis data.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33576" y="661297"/>
            <a:ext cx="1295049" cy="1506966"/>
            <a:chOff x="0" y="0"/>
            <a:chExt cx="1726732" cy="200928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1726732" cy="2009288"/>
              <a:chOff x="0" y="0"/>
              <a:chExt cx="6985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35A0A4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83564" y="284972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4</a:t>
              </a: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647666" y="6172200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762466" y="9931837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610915" y="-84122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762466" y="-292364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8070" y="9931837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765984" y="866775"/>
            <a:ext cx="16756031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Metodologi Pendekatan (Alur Kerja)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2429111" y="2388416"/>
            <a:ext cx="14017635" cy="6597393"/>
            <a:chOff x="0" y="0"/>
            <a:chExt cx="18690179" cy="8796524"/>
          </a:xfrm>
        </p:grpSpPr>
        <p:sp>
          <p:nvSpPr>
            <p:cNvPr name="AutoShape 9" id="9"/>
            <p:cNvSpPr/>
            <p:nvPr/>
          </p:nvSpPr>
          <p:spPr>
            <a:xfrm flipH="true" flipV="true">
              <a:off x="2042699" y="2121789"/>
              <a:ext cx="0" cy="1857348"/>
            </a:xfrm>
            <a:prstGeom prst="line">
              <a:avLst/>
            </a:prstGeom>
            <a:ln cap="flat" w="50800">
              <a:solidFill>
                <a:srgbClr val="737373"/>
              </a:solidFill>
              <a:prstDash val="sysDash"/>
              <a:headEnd type="none" len="sm" w="sm"/>
              <a:tailEnd type="none" len="sm" w="sm"/>
            </a:ln>
          </p:spPr>
        </p:sp>
        <p:sp>
          <p:nvSpPr>
            <p:cNvPr name="AutoShape 10" id="10"/>
            <p:cNvSpPr/>
            <p:nvPr/>
          </p:nvSpPr>
          <p:spPr>
            <a:xfrm flipV="true">
              <a:off x="9345090" y="2121789"/>
              <a:ext cx="0" cy="1857348"/>
            </a:xfrm>
            <a:prstGeom prst="line">
              <a:avLst/>
            </a:prstGeom>
            <a:ln cap="flat" w="50800">
              <a:solidFill>
                <a:srgbClr val="737373"/>
              </a:solidFill>
              <a:prstDash val="sysDash"/>
              <a:headEnd type="none" len="sm" w="sm"/>
              <a:tailEnd type="none" len="sm" w="sm"/>
            </a:ln>
          </p:spPr>
        </p:sp>
        <p:sp>
          <p:nvSpPr>
            <p:cNvPr name="AutoShape 11" id="11"/>
            <p:cNvSpPr/>
            <p:nvPr/>
          </p:nvSpPr>
          <p:spPr>
            <a:xfrm flipV="true">
              <a:off x="16622081" y="2121789"/>
              <a:ext cx="0" cy="1857348"/>
            </a:xfrm>
            <a:prstGeom prst="line">
              <a:avLst/>
            </a:prstGeom>
            <a:ln cap="flat" w="50800">
              <a:solidFill>
                <a:srgbClr val="737373"/>
              </a:solidFill>
              <a:prstDash val="sysDash"/>
              <a:headEnd type="none" len="sm" w="sm"/>
              <a:tailEnd type="none" len="sm" w="sm"/>
            </a:ln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524457" y="2460896"/>
              <a:ext cx="3036483" cy="3036483"/>
            </a:xfrm>
            <a:custGeom>
              <a:avLst/>
              <a:gdLst/>
              <a:ahLst/>
              <a:cxnLst/>
              <a:rect r="r" b="b" t="t" l="l"/>
              <a:pathLst>
                <a:path h="3036483" w="3036483">
                  <a:moveTo>
                    <a:pt x="0" y="0"/>
                  </a:moveTo>
                  <a:lnTo>
                    <a:pt x="3036483" y="0"/>
                  </a:lnTo>
                  <a:lnTo>
                    <a:pt x="3036483" y="3036483"/>
                  </a:lnTo>
                  <a:lnTo>
                    <a:pt x="0" y="3036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3" id="13"/>
            <p:cNvSpPr/>
            <p:nvPr/>
          </p:nvSpPr>
          <p:spPr>
            <a:xfrm>
              <a:off x="12996285" y="3979137"/>
              <a:ext cx="0" cy="1857348"/>
            </a:xfrm>
            <a:prstGeom prst="line">
              <a:avLst/>
            </a:prstGeom>
            <a:ln cap="flat" w="50800">
              <a:solidFill>
                <a:srgbClr val="737373"/>
              </a:solidFill>
              <a:prstDash val="sysDash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5719294" y="3979137"/>
              <a:ext cx="0" cy="1857348"/>
            </a:xfrm>
            <a:prstGeom prst="line">
              <a:avLst/>
            </a:prstGeom>
            <a:ln cap="flat" w="50800">
              <a:solidFill>
                <a:srgbClr val="737373"/>
              </a:solidFill>
              <a:prstDash val="sysDash"/>
              <a:headEnd type="none" len="sm" w="sm"/>
              <a:tailEnd type="none" len="sm" w="sm"/>
            </a:ln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4175653" y="2460896"/>
              <a:ext cx="3036483" cy="3036483"/>
            </a:xfrm>
            <a:custGeom>
              <a:avLst/>
              <a:gdLst/>
              <a:ahLst/>
              <a:cxnLst/>
              <a:rect r="r" b="b" t="t" l="l"/>
              <a:pathLst>
                <a:path h="3036483" w="3036483">
                  <a:moveTo>
                    <a:pt x="0" y="0"/>
                  </a:moveTo>
                  <a:lnTo>
                    <a:pt x="3036483" y="0"/>
                  </a:lnTo>
                  <a:lnTo>
                    <a:pt x="3036483" y="3036483"/>
                  </a:lnTo>
                  <a:lnTo>
                    <a:pt x="0" y="3036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6" id="16"/>
            <p:cNvGrpSpPr/>
            <p:nvPr/>
          </p:nvGrpSpPr>
          <p:grpSpPr>
            <a:xfrm rot="0">
              <a:off x="857877" y="2794315"/>
              <a:ext cx="2369644" cy="2369644"/>
              <a:chOff x="0" y="0"/>
              <a:chExt cx="81280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501809" y="1040009"/>
              <a:ext cx="1081780" cy="1081780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99D98C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5153005" y="5885803"/>
              <a:ext cx="1081780" cy="1081780"/>
              <a:chOff x="0" y="0"/>
              <a:chExt cx="8128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75C892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12455395" y="5885803"/>
              <a:ext cx="1081780" cy="1081780"/>
              <a:chOff x="0" y="0"/>
              <a:chExt cx="8128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58CAE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8804200" y="1040009"/>
              <a:ext cx="1081780" cy="1081780"/>
              <a:chOff x="0" y="0"/>
              <a:chExt cx="812800" cy="8128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5A0A4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4509072" y="2794315"/>
              <a:ext cx="2369644" cy="2369644"/>
              <a:chOff x="0" y="0"/>
              <a:chExt cx="812800" cy="8128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34" id="34"/>
            <p:cNvSpPr/>
            <p:nvPr/>
          </p:nvSpPr>
          <p:spPr>
            <a:xfrm flipH="false" flipV="false" rot="0">
              <a:off x="7826848" y="2460896"/>
              <a:ext cx="3036483" cy="3036483"/>
            </a:xfrm>
            <a:custGeom>
              <a:avLst/>
              <a:gdLst/>
              <a:ahLst/>
              <a:cxnLst/>
              <a:rect r="r" b="b" t="t" l="l"/>
              <a:pathLst>
                <a:path h="3036483" w="3036483">
                  <a:moveTo>
                    <a:pt x="0" y="0"/>
                  </a:moveTo>
                  <a:lnTo>
                    <a:pt x="3036483" y="0"/>
                  </a:lnTo>
                  <a:lnTo>
                    <a:pt x="3036483" y="3036483"/>
                  </a:lnTo>
                  <a:lnTo>
                    <a:pt x="0" y="3036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11478044" y="2460896"/>
              <a:ext cx="3036483" cy="3036483"/>
            </a:xfrm>
            <a:custGeom>
              <a:avLst/>
              <a:gdLst/>
              <a:ahLst/>
              <a:cxnLst/>
              <a:rect r="r" b="b" t="t" l="l"/>
              <a:pathLst>
                <a:path h="3036483" w="3036483">
                  <a:moveTo>
                    <a:pt x="0" y="0"/>
                  </a:moveTo>
                  <a:lnTo>
                    <a:pt x="3036483" y="0"/>
                  </a:lnTo>
                  <a:lnTo>
                    <a:pt x="3036483" y="3036483"/>
                  </a:lnTo>
                  <a:lnTo>
                    <a:pt x="0" y="3036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15129239" y="2460896"/>
              <a:ext cx="3036483" cy="3036483"/>
            </a:xfrm>
            <a:custGeom>
              <a:avLst/>
              <a:gdLst/>
              <a:ahLst/>
              <a:cxnLst/>
              <a:rect r="r" b="b" t="t" l="l"/>
              <a:pathLst>
                <a:path h="3036483" w="3036483">
                  <a:moveTo>
                    <a:pt x="0" y="0"/>
                  </a:moveTo>
                  <a:lnTo>
                    <a:pt x="3036483" y="0"/>
                  </a:lnTo>
                  <a:lnTo>
                    <a:pt x="3036483" y="3036483"/>
                  </a:lnTo>
                  <a:lnTo>
                    <a:pt x="0" y="3036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37" id="37"/>
            <p:cNvGrpSpPr/>
            <p:nvPr/>
          </p:nvGrpSpPr>
          <p:grpSpPr>
            <a:xfrm rot="0">
              <a:off x="8160268" y="2794315"/>
              <a:ext cx="2369644" cy="2369644"/>
              <a:chOff x="0" y="0"/>
              <a:chExt cx="812800" cy="8128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11811463" y="2794315"/>
              <a:ext cx="2369644" cy="2369644"/>
              <a:chOff x="0" y="0"/>
              <a:chExt cx="812800" cy="812800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43" id="43"/>
            <p:cNvGrpSpPr/>
            <p:nvPr/>
          </p:nvGrpSpPr>
          <p:grpSpPr>
            <a:xfrm rot="0">
              <a:off x="15462658" y="2794315"/>
              <a:ext cx="2369644" cy="2369644"/>
              <a:chOff x="0" y="0"/>
              <a:chExt cx="812800" cy="81280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46" id="46"/>
            <p:cNvGrpSpPr/>
            <p:nvPr/>
          </p:nvGrpSpPr>
          <p:grpSpPr>
            <a:xfrm rot="0">
              <a:off x="16106591" y="1040009"/>
              <a:ext cx="1081780" cy="1081780"/>
              <a:chOff x="0" y="0"/>
              <a:chExt cx="812800" cy="812800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A769F"/>
              </a:solidFill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49" id="49"/>
            <p:cNvGrpSpPr/>
            <p:nvPr/>
          </p:nvGrpSpPr>
          <p:grpSpPr>
            <a:xfrm rot="0">
              <a:off x="3227521" y="3637884"/>
              <a:ext cx="1015925" cy="682506"/>
              <a:chOff x="0" y="0"/>
              <a:chExt cx="1209871" cy="8128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120987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209871">
                    <a:moveTo>
                      <a:pt x="1209871" y="406400"/>
                    </a:moveTo>
                    <a:lnTo>
                      <a:pt x="803471" y="0"/>
                    </a:lnTo>
                    <a:lnTo>
                      <a:pt x="803471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803471" y="609600"/>
                    </a:lnTo>
                    <a:lnTo>
                      <a:pt x="803471" y="812800"/>
                    </a:lnTo>
                    <a:lnTo>
                      <a:pt x="1209871" y="406400"/>
                    </a:lnTo>
                    <a:close/>
                  </a:path>
                </a:pathLst>
              </a:custGeom>
              <a:solidFill>
                <a:srgbClr val="99D98C"/>
              </a:solidFill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146050"/>
                <a:ext cx="1108271" cy="463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52" id="52"/>
            <p:cNvGrpSpPr/>
            <p:nvPr/>
          </p:nvGrpSpPr>
          <p:grpSpPr>
            <a:xfrm rot="0">
              <a:off x="6878716" y="3637884"/>
              <a:ext cx="1015925" cy="682506"/>
              <a:chOff x="0" y="0"/>
              <a:chExt cx="1209871" cy="812800"/>
            </a:xfrm>
          </p:grpSpPr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120987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209871">
                    <a:moveTo>
                      <a:pt x="1209871" y="406400"/>
                    </a:moveTo>
                    <a:lnTo>
                      <a:pt x="803471" y="0"/>
                    </a:lnTo>
                    <a:lnTo>
                      <a:pt x="803471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803471" y="609600"/>
                    </a:lnTo>
                    <a:lnTo>
                      <a:pt x="803471" y="812800"/>
                    </a:lnTo>
                    <a:lnTo>
                      <a:pt x="1209871" y="406400"/>
                    </a:lnTo>
                    <a:close/>
                  </a:path>
                </a:pathLst>
              </a:custGeom>
              <a:solidFill>
                <a:srgbClr val="75C892"/>
              </a:solidFill>
            </p:spPr>
          </p:sp>
          <p:sp>
            <p:nvSpPr>
              <p:cNvPr name="TextBox 54" id="54"/>
              <p:cNvSpPr txBox="true"/>
              <p:nvPr/>
            </p:nvSpPr>
            <p:spPr>
              <a:xfrm>
                <a:off x="0" y="146050"/>
                <a:ext cx="1108271" cy="463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55" id="55"/>
            <p:cNvGrpSpPr/>
            <p:nvPr/>
          </p:nvGrpSpPr>
          <p:grpSpPr>
            <a:xfrm rot="0">
              <a:off x="10529912" y="3637884"/>
              <a:ext cx="1015925" cy="682506"/>
              <a:chOff x="0" y="0"/>
              <a:chExt cx="1209871" cy="812800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120987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209871">
                    <a:moveTo>
                      <a:pt x="1209871" y="406400"/>
                    </a:moveTo>
                    <a:lnTo>
                      <a:pt x="803471" y="0"/>
                    </a:lnTo>
                    <a:lnTo>
                      <a:pt x="803471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803471" y="609600"/>
                    </a:lnTo>
                    <a:lnTo>
                      <a:pt x="803471" y="812800"/>
                    </a:lnTo>
                    <a:lnTo>
                      <a:pt x="1209871" y="406400"/>
                    </a:lnTo>
                    <a:close/>
                  </a:path>
                </a:pathLst>
              </a:custGeom>
              <a:solidFill>
                <a:srgbClr val="35A0A4"/>
              </a:solidFill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146050"/>
                <a:ext cx="1108271" cy="463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58" id="58"/>
            <p:cNvGrpSpPr/>
            <p:nvPr/>
          </p:nvGrpSpPr>
          <p:grpSpPr>
            <a:xfrm rot="0">
              <a:off x="14181107" y="3637884"/>
              <a:ext cx="1015925" cy="682506"/>
              <a:chOff x="0" y="0"/>
              <a:chExt cx="1209871" cy="812800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120987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209871">
                    <a:moveTo>
                      <a:pt x="1209871" y="406400"/>
                    </a:moveTo>
                    <a:lnTo>
                      <a:pt x="803471" y="0"/>
                    </a:lnTo>
                    <a:lnTo>
                      <a:pt x="803471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803471" y="609600"/>
                    </a:lnTo>
                    <a:lnTo>
                      <a:pt x="803471" y="812800"/>
                    </a:lnTo>
                    <a:lnTo>
                      <a:pt x="1209871" y="406400"/>
                    </a:lnTo>
                    <a:close/>
                  </a:path>
                </a:pathLst>
              </a:custGeom>
              <a:solidFill>
                <a:srgbClr val="158CAE"/>
              </a:solidFill>
            </p:spPr>
          </p:sp>
          <p:sp>
            <p:nvSpPr>
              <p:cNvPr name="TextBox 60" id="60"/>
              <p:cNvSpPr txBox="true"/>
              <p:nvPr/>
            </p:nvSpPr>
            <p:spPr>
              <a:xfrm>
                <a:off x="0" y="146050"/>
                <a:ext cx="1108271" cy="463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61" id="61"/>
            <p:cNvSpPr/>
            <p:nvPr/>
          </p:nvSpPr>
          <p:spPr>
            <a:xfrm flipH="false" flipV="false" rot="0">
              <a:off x="5170495" y="3400796"/>
              <a:ext cx="1046798" cy="1156683"/>
            </a:xfrm>
            <a:custGeom>
              <a:avLst/>
              <a:gdLst/>
              <a:ahLst/>
              <a:cxnLst/>
              <a:rect r="r" b="b" t="t" l="l"/>
              <a:pathLst>
                <a:path h="1156683" w="1046798">
                  <a:moveTo>
                    <a:pt x="0" y="0"/>
                  </a:moveTo>
                  <a:lnTo>
                    <a:pt x="1046798" y="0"/>
                  </a:lnTo>
                  <a:lnTo>
                    <a:pt x="1046798" y="1156683"/>
                  </a:lnTo>
                  <a:lnTo>
                    <a:pt x="0" y="11566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2" id="62"/>
            <p:cNvSpPr/>
            <p:nvPr/>
          </p:nvSpPr>
          <p:spPr>
            <a:xfrm flipH="false" flipV="false" rot="0">
              <a:off x="16048898" y="3459866"/>
              <a:ext cx="1197166" cy="1038541"/>
            </a:xfrm>
            <a:custGeom>
              <a:avLst/>
              <a:gdLst/>
              <a:ahLst/>
              <a:cxnLst/>
              <a:rect r="r" b="b" t="t" l="l"/>
              <a:pathLst>
                <a:path h="1038541" w="1197166">
                  <a:moveTo>
                    <a:pt x="0" y="0"/>
                  </a:moveTo>
                  <a:lnTo>
                    <a:pt x="1197165" y="0"/>
                  </a:lnTo>
                  <a:lnTo>
                    <a:pt x="1197165" y="1038542"/>
                  </a:lnTo>
                  <a:lnTo>
                    <a:pt x="0" y="10385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3" id="63"/>
            <p:cNvSpPr/>
            <p:nvPr/>
          </p:nvSpPr>
          <p:spPr>
            <a:xfrm flipH="false" flipV="false" rot="0">
              <a:off x="17367099" y="2878329"/>
              <a:ext cx="465204" cy="465204"/>
            </a:xfrm>
            <a:custGeom>
              <a:avLst/>
              <a:gdLst/>
              <a:ahLst/>
              <a:cxnLst/>
              <a:rect r="r" b="b" t="t" l="l"/>
              <a:pathLst>
                <a:path h="465204" w="465204">
                  <a:moveTo>
                    <a:pt x="0" y="0"/>
                  </a:moveTo>
                  <a:lnTo>
                    <a:pt x="465204" y="0"/>
                  </a:lnTo>
                  <a:lnTo>
                    <a:pt x="465204" y="465204"/>
                  </a:lnTo>
                  <a:lnTo>
                    <a:pt x="0" y="465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alphaModFix amt="30000"/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4" id="64"/>
            <p:cNvSpPr/>
            <p:nvPr/>
          </p:nvSpPr>
          <p:spPr>
            <a:xfrm flipH="false" flipV="false" rot="0">
              <a:off x="4509072" y="4698756"/>
              <a:ext cx="465204" cy="465204"/>
            </a:xfrm>
            <a:custGeom>
              <a:avLst/>
              <a:gdLst/>
              <a:ahLst/>
              <a:cxnLst/>
              <a:rect r="r" b="b" t="t" l="l"/>
              <a:pathLst>
                <a:path h="465204" w="465204">
                  <a:moveTo>
                    <a:pt x="0" y="0"/>
                  </a:moveTo>
                  <a:lnTo>
                    <a:pt x="465204" y="0"/>
                  </a:lnTo>
                  <a:lnTo>
                    <a:pt x="465204" y="465203"/>
                  </a:lnTo>
                  <a:lnTo>
                    <a:pt x="0" y="4652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alphaModFix amt="30000"/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1427442" y="3401064"/>
              <a:ext cx="1156146" cy="1156146"/>
            </a:xfrm>
            <a:custGeom>
              <a:avLst/>
              <a:gdLst/>
              <a:ahLst/>
              <a:cxnLst/>
              <a:rect r="r" b="b" t="t" l="l"/>
              <a:pathLst>
                <a:path h="1156146" w="1156146">
                  <a:moveTo>
                    <a:pt x="0" y="0"/>
                  </a:moveTo>
                  <a:lnTo>
                    <a:pt x="1156147" y="0"/>
                  </a:lnTo>
                  <a:lnTo>
                    <a:pt x="1156147" y="1156146"/>
                  </a:lnTo>
                  <a:lnTo>
                    <a:pt x="0" y="11561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6" id="66"/>
            <p:cNvSpPr/>
            <p:nvPr/>
          </p:nvSpPr>
          <p:spPr>
            <a:xfrm flipH="false" flipV="false" rot="0">
              <a:off x="8698501" y="3520592"/>
              <a:ext cx="1027551" cy="917089"/>
            </a:xfrm>
            <a:custGeom>
              <a:avLst/>
              <a:gdLst/>
              <a:ahLst/>
              <a:cxnLst/>
              <a:rect r="r" b="b" t="t" l="l"/>
              <a:pathLst>
                <a:path h="917089" w="1027551">
                  <a:moveTo>
                    <a:pt x="0" y="0"/>
                  </a:moveTo>
                  <a:lnTo>
                    <a:pt x="1027551" y="0"/>
                  </a:lnTo>
                  <a:lnTo>
                    <a:pt x="1027551" y="917090"/>
                  </a:lnTo>
                  <a:lnTo>
                    <a:pt x="0" y="9170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7" id="67"/>
            <p:cNvSpPr/>
            <p:nvPr/>
          </p:nvSpPr>
          <p:spPr>
            <a:xfrm flipH="false" flipV="false" rot="0">
              <a:off x="12493583" y="3441956"/>
              <a:ext cx="1103324" cy="1074362"/>
            </a:xfrm>
            <a:custGeom>
              <a:avLst/>
              <a:gdLst/>
              <a:ahLst/>
              <a:cxnLst/>
              <a:rect r="r" b="b" t="t" l="l"/>
              <a:pathLst>
                <a:path h="1074362" w="1103324">
                  <a:moveTo>
                    <a:pt x="0" y="0"/>
                  </a:moveTo>
                  <a:lnTo>
                    <a:pt x="1103324" y="0"/>
                  </a:lnTo>
                  <a:lnTo>
                    <a:pt x="1103324" y="1074362"/>
                  </a:lnTo>
                  <a:lnTo>
                    <a:pt x="0" y="1074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 rot="0">
              <a:off x="0" y="7123934"/>
              <a:ext cx="4085398" cy="1253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>
                  <a:solidFill>
                    <a:srgbClr val="737373"/>
                  </a:solidFill>
                  <a:latin typeface="Poppins"/>
                  <a:ea typeface="Poppins"/>
                  <a:cs typeface="Poppins"/>
                  <a:sym typeface="Poppins"/>
                </a:rPr>
                <a:t>Memahami struktur dataset survei kesehatan (21 fitur prediktor).</a:t>
              </a:r>
            </a:p>
          </p:txBody>
        </p:sp>
        <p:sp>
          <p:nvSpPr>
            <p:cNvPr name="TextBox 69" id="69"/>
            <p:cNvSpPr txBox="true"/>
            <p:nvPr/>
          </p:nvSpPr>
          <p:spPr>
            <a:xfrm rot="0">
              <a:off x="0" y="5779335"/>
              <a:ext cx="4085398" cy="11882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Data Collection &amp; Understanding:</a:t>
              </a:r>
            </a:p>
          </p:txBody>
        </p:sp>
        <p:sp>
          <p:nvSpPr>
            <p:cNvPr name="TextBox 70" id="70"/>
            <p:cNvSpPr txBox="true"/>
            <p:nvPr/>
          </p:nvSpPr>
          <p:spPr>
            <a:xfrm rot="0">
              <a:off x="1503072" y="1262988"/>
              <a:ext cx="1079255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01</a:t>
              </a:r>
            </a:p>
          </p:txBody>
        </p:sp>
        <p:sp>
          <p:nvSpPr>
            <p:cNvPr name="TextBox 71" id="71"/>
            <p:cNvSpPr txBox="true"/>
            <p:nvPr/>
          </p:nvSpPr>
          <p:spPr>
            <a:xfrm rot="0">
              <a:off x="8804200" y="1262988"/>
              <a:ext cx="108178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03</a:t>
              </a:r>
            </a:p>
          </p:txBody>
        </p:sp>
        <p:sp>
          <p:nvSpPr>
            <p:cNvPr name="TextBox 72" id="72"/>
            <p:cNvSpPr txBox="true"/>
            <p:nvPr/>
          </p:nvSpPr>
          <p:spPr>
            <a:xfrm rot="0">
              <a:off x="5153005" y="6108782"/>
              <a:ext cx="108178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02</a:t>
              </a:r>
            </a:p>
          </p:txBody>
        </p:sp>
        <p:sp>
          <p:nvSpPr>
            <p:cNvPr name="TextBox 73" id="73"/>
            <p:cNvSpPr txBox="true"/>
            <p:nvPr/>
          </p:nvSpPr>
          <p:spPr>
            <a:xfrm rot="0">
              <a:off x="12449156" y="6084123"/>
              <a:ext cx="1088018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04</a:t>
              </a:r>
            </a:p>
          </p:txBody>
        </p:sp>
        <p:sp>
          <p:nvSpPr>
            <p:cNvPr name="TextBox 74" id="74"/>
            <p:cNvSpPr txBox="true"/>
            <p:nvPr/>
          </p:nvSpPr>
          <p:spPr>
            <a:xfrm rot="0">
              <a:off x="3318926" y="1287448"/>
              <a:ext cx="4749936" cy="1253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>
                  <a:solidFill>
                    <a:srgbClr val="737373"/>
                  </a:solidFill>
                  <a:latin typeface="Poppins"/>
                  <a:ea typeface="Poppins"/>
                  <a:cs typeface="Poppins"/>
                  <a:sym typeface="Poppins"/>
                </a:rPr>
                <a:t>Penanganan anomali data, duplikasi, dan standardisasi skala (Fokus Orang 1).</a:t>
              </a:r>
            </a:p>
          </p:txBody>
        </p:sp>
        <p:sp>
          <p:nvSpPr>
            <p:cNvPr name="TextBox 75" id="75"/>
            <p:cNvSpPr txBox="true"/>
            <p:nvPr/>
          </p:nvSpPr>
          <p:spPr>
            <a:xfrm rot="0">
              <a:off x="3318926" y="-57150"/>
              <a:ext cx="4749936" cy="11882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Data Cleaning &amp; Preprocessing</a:t>
              </a:r>
            </a:p>
          </p:txBody>
        </p:sp>
        <p:sp>
          <p:nvSpPr>
            <p:cNvPr name="TextBox 76" id="76"/>
            <p:cNvSpPr txBox="true"/>
            <p:nvPr/>
          </p:nvSpPr>
          <p:spPr>
            <a:xfrm rot="0">
              <a:off x="10449352" y="1287448"/>
              <a:ext cx="5093866" cy="1253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>
                  <a:solidFill>
                    <a:srgbClr val="737373"/>
                  </a:solidFill>
                  <a:latin typeface="Poppins"/>
                  <a:ea typeface="Poppins"/>
                  <a:cs typeface="Poppins"/>
                  <a:sym typeface="Poppins"/>
                </a:rPr>
                <a:t>Pelatihan algoritma klasifikasi untuk memprediksi risiko diabetes (Fokus Orang 3).</a:t>
              </a:r>
            </a:p>
          </p:txBody>
        </p:sp>
        <p:sp>
          <p:nvSpPr>
            <p:cNvPr name="TextBox 77" id="77"/>
            <p:cNvSpPr txBox="true"/>
            <p:nvPr/>
          </p:nvSpPr>
          <p:spPr>
            <a:xfrm rot="0">
              <a:off x="10529912" y="-57150"/>
              <a:ext cx="4932747" cy="11882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Machine Learning Modeling</a:t>
              </a:r>
            </a:p>
          </p:txBody>
        </p:sp>
        <p:sp>
          <p:nvSpPr>
            <p:cNvPr name="TextBox 78" id="78"/>
            <p:cNvSpPr txBox="true"/>
            <p:nvPr/>
          </p:nvSpPr>
          <p:spPr>
            <a:xfrm rot="0">
              <a:off x="7302391" y="7123934"/>
              <a:ext cx="4085398" cy="16725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>
                  <a:solidFill>
                    <a:srgbClr val="737373"/>
                  </a:solidFill>
                  <a:latin typeface="Poppins"/>
                  <a:ea typeface="Poppins"/>
                  <a:cs typeface="Poppins"/>
                  <a:sym typeface="Poppins"/>
                </a:rPr>
                <a:t>Analisis statistik dan visualisasi pola hubungan antar variabel gaya hidup (Fokus Orang 2).</a:t>
              </a:r>
            </a:p>
          </p:txBody>
        </p:sp>
        <p:sp>
          <p:nvSpPr>
            <p:cNvPr name="TextBox 79" id="79"/>
            <p:cNvSpPr txBox="true"/>
            <p:nvPr/>
          </p:nvSpPr>
          <p:spPr>
            <a:xfrm rot="0">
              <a:off x="7302391" y="5779335"/>
              <a:ext cx="4085398" cy="11882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Exploratory Data Analysis (EDA)</a:t>
              </a:r>
            </a:p>
          </p:txBody>
        </p:sp>
        <p:sp>
          <p:nvSpPr>
            <p:cNvPr name="TextBox 80" id="80"/>
            <p:cNvSpPr txBox="true"/>
            <p:nvPr/>
          </p:nvSpPr>
          <p:spPr>
            <a:xfrm rot="0">
              <a:off x="14604782" y="7123934"/>
              <a:ext cx="4085398" cy="1253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>
                  <a:solidFill>
                    <a:srgbClr val="737373"/>
                  </a:solidFill>
                  <a:latin typeface="Poppins"/>
                  <a:ea typeface="Poppins"/>
                  <a:cs typeface="Poppins"/>
                  <a:sym typeface="Poppins"/>
                </a:rPr>
                <a:t>Evaluasi metrik model dan pembuatan visualisasi dashboard di Tableau.</a:t>
              </a:r>
            </a:p>
          </p:txBody>
        </p:sp>
        <p:sp>
          <p:nvSpPr>
            <p:cNvPr name="TextBox 81" id="81"/>
            <p:cNvSpPr txBox="true"/>
            <p:nvPr/>
          </p:nvSpPr>
          <p:spPr>
            <a:xfrm rot="0">
              <a:off x="14604782" y="5779335"/>
              <a:ext cx="4085398" cy="11882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Evaluation &amp; Deployment</a:t>
              </a:r>
            </a:p>
          </p:txBody>
        </p:sp>
        <p:sp>
          <p:nvSpPr>
            <p:cNvPr name="TextBox 82" id="82"/>
            <p:cNvSpPr txBox="true"/>
            <p:nvPr/>
          </p:nvSpPr>
          <p:spPr>
            <a:xfrm rot="0">
              <a:off x="16106591" y="1262988"/>
              <a:ext cx="108178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05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533576" y="661297"/>
            <a:ext cx="1295049" cy="1506966"/>
            <a:chOff x="0" y="0"/>
            <a:chExt cx="1726732" cy="2009288"/>
          </a:xfrm>
        </p:grpSpPr>
        <p:grpSp>
          <p:nvGrpSpPr>
            <p:cNvPr name="Group 84" id="84"/>
            <p:cNvGrpSpPr/>
            <p:nvPr/>
          </p:nvGrpSpPr>
          <p:grpSpPr>
            <a:xfrm rot="0">
              <a:off x="0" y="0"/>
              <a:ext cx="1726732" cy="2009288"/>
              <a:chOff x="0" y="0"/>
              <a:chExt cx="698500" cy="812800"/>
            </a:xfrm>
          </p:grpSpPr>
          <p:sp>
            <p:nvSpPr>
              <p:cNvPr name="Freeform 85" id="85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A769F"/>
              </a:solidFill>
            </p:spPr>
          </p:sp>
          <p:sp>
            <p:nvSpPr>
              <p:cNvPr name="TextBox 86" id="86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87" id="87"/>
            <p:cNvSpPr txBox="true"/>
            <p:nvPr/>
          </p:nvSpPr>
          <p:spPr>
            <a:xfrm rot="0">
              <a:off x="83564" y="284972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98206" y="-405336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762466" y="9931837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90725" y="9931837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762466" y="-310086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6179101" y="2823881"/>
            <a:ext cx="5935013" cy="5935013"/>
          </a:xfrm>
          <a:prstGeom prst="rect">
            <a:avLst/>
          </a:prstGeom>
        </p:spPr>
      </p:pic>
      <p:sp>
        <p:nvSpPr>
          <p:cNvPr name="Freeform 8" id="8"/>
          <p:cNvSpPr/>
          <p:nvPr/>
        </p:nvSpPr>
        <p:spPr>
          <a:xfrm flipH="false" flipV="false" rot="0">
            <a:off x="6323051" y="2997919"/>
            <a:ext cx="1994192" cy="1994192"/>
          </a:xfrm>
          <a:custGeom>
            <a:avLst/>
            <a:gdLst/>
            <a:ahLst/>
            <a:cxnLst/>
            <a:rect r="r" b="b" t="t" l="l"/>
            <a:pathLst>
              <a:path h="1994192" w="1994192">
                <a:moveTo>
                  <a:pt x="0" y="0"/>
                </a:moveTo>
                <a:lnTo>
                  <a:pt x="1994192" y="0"/>
                </a:lnTo>
                <a:lnTo>
                  <a:pt x="1994192" y="1994193"/>
                </a:lnTo>
                <a:lnTo>
                  <a:pt x="0" y="199419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676589" y="5499395"/>
            <a:ext cx="1994192" cy="1994192"/>
          </a:xfrm>
          <a:custGeom>
            <a:avLst/>
            <a:gdLst/>
            <a:ahLst/>
            <a:cxnLst/>
            <a:rect r="r" b="b" t="t" l="l"/>
            <a:pathLst>
              <a:path h="1994192" w="1994192">
                <a:moveTo>
                  <a:pt x="0" y="0"/>
                </a:moveTo>
                <a:lnTo>
                  <a:pt x="1994192" y="0"/>
                </a:lnTo>
                <a:lnTo>
                  <a:pt x="1994192" y="1994193"/>
                </a:lnTo>
                <a:lnTo>
                  <a:pt x="0" y="199419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444834" y="7567836"/>
            <a:ext cx="1994192" cy="1994192"/>
          </a:xfrm>
          <a:custGeom>
            <a:avLst/>
            <a:gdLst/>
            <a:ahLst/>
            <a:cxnLst/>
            <a:rect r="r" b="b" t="t" l="l"/>
            <a:pathLst>
              <a:path h="1994192" w="1994192">
                <a:moveTo>
                  <a:pt x="0" y="0"/>
                </a:moveTo>
                <a:lnTo>
                  <a:pt x="1994192" y="0"/>
                </a:lnTo>
                <a:lnTo>
                  <a:pt x="1994192" y="1994193"/>
                </a:lnTo>
                <a:lnTo>
                  <a:pt x="0" y="199419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318744" y="2997919"/>
            <a:ext cx="1994192" cy="1994192"/>
          </a:xfrm>
          <a:custGeom>
            <a:avLst/>
            <a:gdLst/>
            <a:ahLst/>
            <a:cxnLst/>
            <a:rect r="r" b="b" t="t" l="l"/>
            <a:pathLst>
              <a:path h="1994192" w="1994192">
                <a:moveTo>
                  <a:pt x="0" y="0"/>
                </a:moveTo>
                <a:lnTo>
                  <a:pt x="1994192" y="0"/>
                </a:lnTo>
                <a:lnTo>
                  <a:pt x="1994192" y="1994193"/>
                </a:lnTo>
                <a:lnTo>
                  <a:pt x="0" y="199419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6323051" y="3102859"/>
            <a:ext cx="1642510" cy="1642510"/>
            <a:chOff x="0" y="0"/>
            <a:chExt cx="467461" cy="46746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67461" cy="467461"/>
            </a:xfrm>
            <a:custGeom>
              <a:avLst/>
              <a:gdLst/>
              <a:ahLst/>
              <a:cxnLst/>
              <a:rect r="r" b="b" t="t" l="l"/>
              <a:pathLst>
                <a:path h="467461" w="467461">
                  <a:moveTo>
                    <a:pt x="141404" y="0"/>
                  </a:moveTo>
                  <a:lnTo>
                    <a:pt x="326057" y="0"/>
                  </a:lnTo>
                  <a:cubicBezTo>
                    <a:pt x="363560" y="0"/>
                    <a:pt x="399526" y="14898"/>
                    <a:pt x="426045" y="41416"/>
                  </a:cubicBezTo>
                  <a:cubicBezTo>
                    <a:pt x="452563" y="67935"/>
                    <a:pt x="467461" y="103901"/>
                    <a:pt x="467461" y="141404"/>
                  </a:cubicBezTo>
                  <a:lnTo>
                    <a:pt x="467461" y="326057"/>
                  </a:lnTo>
                  <a:cubicBezTo>
                    <a:pt x="467461" y="363560"/>
                    <a:pt x="452563" y="399526"/>
                    <a:pt x="426045" y="426045"/>
                  </a:cubicBezTo>
                  <a:cubicBezTo>
                    <a:pt x="399526" y="452563"/>
                    <a:pt x="363560" y="467461"/>
                    <a:pt x="326057" y="467461"/>
                  </a:cubicBezTo>
                  <a:lnTo>
                    <a:pt x="141404" y="467461"/>
                  </a:lnTo>
                  <a:cubicBezTo>
                    <a:pt x="103901" y="467461"/>
                    <a:pt x="67935" y="452563"/>
                    <a:pt x="41416" y="426045"/>
                  </a:cubicBezTo>
                  <a:cubicBezTo>
                    <a:pt x="14898" y="399526"/>
                    <a:pt x="0" y="363560"/>
                    <a:pt x="0" y="326057"/>
                  </a:cubicBezTo>
                  <a:lnTo>
                    <a:pt x="0" y="141404"/>
                  </a:lnTo>
                  <a:cubicBezTo>
                    <a:pt x="0" y="103901"/>
                    <a:pt x="14898" y="67935"/>
                    <a:pt x="41416" y="41416"/>
                  </a:cubicBezTo>
                  <a:cubicBezTo>
                    <a:pt x="67935" y="14898"/>
                    <a:pt x="103901" y="0"/>
                    <a:pt x="141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467461" cy="524611"/>
            </a:xfrm>
            <a:prstGeom prst="rect">
              <a:avLst/>
            </a:prstGeom>
          </p:spPr>
          <p:txBody>
            <a:bodyPr anchor="ctr" rtlCol="false" tIns="50141" lIns="50141" bIns="50141" rIns="50141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6795403" y="2569513"/>
            <a:ext cx="348903" cy="348903"/>
          </a:xfrm>
          <a:custGeom>
            <a:avLst/>
            <a:gdLst/>
            <a:ahLst/>
            <a:cxnLst/>
            <a:rect r="r" b="b" t="t" l="l"/>
            <a:pathLst>
              <a:path h="348903" w="348903">
                <a:moveTo>
                  <a:pt x="0" y="0"/>
                </a:moveTo>
                <a:lnTo>
                  <a:pt x="348903" y="0"/>
                </a:lnTo>
                <a:lnTo>
                  <a:pt x="348903" y="348902"/>
                </a:lnTo>
                <a:lnTo>
                  <a:pt x="0" y="34890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30000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39026" y="3074047"/>
            <a:ext cx="1642510" cy="1642510"/>
            <a:chOff x="0" y="0"/>
            <a:chExt cx="467461" cy="46746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67461" cy="467461"/>
            </a:xfrm>
            <a:custGeom>
              <a:avLst/>
              <a:gdLst/>
              <a:ahLst/>
              <a:cxnLst/>
              <a:rect r="r" b="b" t="t" l="l"/>
              <a:pathLst>
                <a:path h="467461" w="467461">
                  <a:moveTo>
                    <a:pt x="141404" y="0"/>
                  </a:moveTo>
                  <a:lnTo>
                    <a:pt x="326057" y="0"/>
                  </a:lnTo>
                  <a:cubicBezTo>
                    <a:pt x="363560" y="0"/>
                    <a:pt x="399526" y="14898"/>
                    <a:pt x="426045" y="41416"/>
                  </a:cubicBezTo>
                  <a:cubicBezTo>
                    <a:pt x="452563" y="67935"/>
                    <a:pt x="467461" y="103901"/>
                    <a:pt x="467461" y="141404"/>
                  </a:cubicBezTo>
                  <a:lnTo>
                    <a:pt x="467461" y="326057"/>
                  </a:lnTo>
                  <a:cubicBezTo>
                    <a:pt x="467461" y="363560"/>
                    <a:pt x="452563" y="399526"/>
                    <a:pt x="426045" y="426045"/>
                  </a:cubicBezTo>
                  <a:cubicBezTo>
                    <a:pt x="399526" y="452563"/>
                    <a:pt x="363560" y="467461"/>
                    <a:pt x="326057" y="467461"/>
                  </a:cubicBezTo>
                  <a:lnTo>
                    <a:pt x="141404" y="467461"/>
                  </a:lnTo>
                  <a:cubicBezTo>
                    <a:pt x="103901" y="467461"/>
                    <a:pt x="67935" y="452563"/>
                    <a:pt x="41416" y="426045"/>
                  </a:cubicBezTo>
                  <a:cubicBezTo>
                    <a:pt x="14898" y="399526"/>
                    <a:pt x="0" y="363560"/>
                    <a:pt x="0" y="326057"/>
                  </a:cubicBezTo>
                  <a:lnTo>
                    <a:pt x="0" y="141404"/>
                  </a:lnTo>
                  <a:cubicBezTo>
                    <a:pt x="0" y="103901"/>
                    <a:pt x="14898" y="67935"/>
                    <a:pt x="41416" y="41416"/>
                  </a:cubicBezTo>
                  <a:cubicBezTo>
                    <a:pt x="67935" y="14898"/>
                    <a:pt x="103901" y="0"/>
                    <a:pt x="141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467461" cy="524611"/>
            </a:xfrm>
            <a:prstGeom prst="rect">
              <a:avLst/>
            </a:prstGeom>
          </p:spPr>
          <p:txBody>
            <a:bodyPr anchor="ctr" rtlCol="false" tIns="50141" lIns="50141" bIns="50141" rIns="50141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676589" y="5624132"/>
            <a:ext cx="1642510" cy="1642510"/>
            <a:chOff x="0" y="0"/>
            <a:chExt cx="467461" cy="46746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67461" cy="467461"/>
            </a:xfrm>
            <a:custGeom>
              <a:avLst/>
              <a:gdLst/>
              <a:ahLst/>
              <a:cxnLst/>
              <a:rect r="r" b="b" t="t" l="l"/>
              <a:pathLst>
                <a:path h="467461" w="467461">
                  <a:moveTo>
                    <a:pt x="141404" y="0"/>
                  </a:moveTo>
                  <a:lnTo>
                    <a:pt x="326057" y="0"/>
                  </a:lnTo>
                  <a:cubicBezTo>
                    <a:pt x="363560" y="0"/>
                    <a:pt x="399526" y="14898"/>
                    <a:pt x="426045" y="41416"/>
                  </a:cubicBezTo>
                  <a:cubicBezTo>
                    <a:pt x="452563" y="67935"/>
                    <a:pt x="467461" y="103901"/>
                    <a:pt x="467461" y="141404"/>
                  </a:cubicBezTo>
                  <a:lnTo>
                    <a:pt x="467461" y="326057"/>
                  </a:lnTo>
                  <a:cubicBezTo>
                    <a:pt x="467461" y="363560"/>
                    <a:pt x="452563" y="399526"/>
                    <a:pt x="426045" y="426045"/>
                  </a:cubicBezTo>
                  <a:cubicBezTo>
                    <a:pt x="399526" y="452563"/>
                    <a:pt x="363560" y="467461"/>
                    <a:pt x="326057" y="467461"/>
                  </a:cubicBezTo>
                  <a:lnTo>
                    <a:pt x="141404" y="467461"/>
                  </a:lnTo>
                  <a:cubicBezTo>
                    <a:pt x="103901" y="467461"/>
                    <a:pt x="67935" y="452563"/>
                    <a:pt x="41416" y="426045"/>
                  </a:cubicBezTo>
                  <a:cubicBezTo>
                    <a:pt x="14898" y="399526"/>
                    <a:pt x="0" y="363560"/>
                    <a:pt x="0" y="326057"/>
                  </a:cubicBezTo>
                  <a:lnTo>
                    <a:pt x="0" y="141404"/>
                  </a:lnTo>
                  <a:cubicBezTo>
                    <a:pt x="0" y="103901"/>
                    <a:pt x="14898" y="67935"/>
                    <a:pt x="41416" y="41416"/>
                  </a:cubicBezTo>
                  <a:cubicBezTo>
                    <a:pt x="67935" y="14898"/>
                    <a:pt x="103901" y="0"/>
                    <a:pt x="141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467461" cy="524611"/>
            </a:xfrm>
            <a:prstGeom prst="rect">
              <a:avLst/>
            </a:prstGeom>
          </p:spPr>
          <p:txBody>
            <a:bodyPr anchor="ctr" rtlCol="false" tIns="50141" lIns="50141" bIns="50141" rIns="50141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8516614" y="7615790"/>
            <a:ext cx="1642510" cy="1642510"/>
            <a:chOff x="0" y="0"/>
            <a:chExt cx="467461" cy="46746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67461" cy="467461"/>
            </a:xfrm>
            <a:custGeom>
              <a:avLst/>
              <a:gdLst/>
              <a:ahLst/>
              <a:cxnLst/>
              <a:rect r="r" b="b" t="t" l="l"/>
              <a:pathLst>
                <a:path h="467461" w="467461">
                  <a:moveTo>
                    <a:pt x="141404" y="0"/>
                  </a:moveTo>
                  <a:lnTo>
                    <a:pt x="326057" y="0"/>
                  </a:lnTo>
                  <a:cubicBezTo>
                    <a:pt x="363560" y="0"/>
                    <a:pt x="399526" y="14898"/>
                    <a:pt x="426045" y="41416"/>
                  </a:cubicBezTo>
                  <a:cubicBezTo>
                    <a:pt x="452563" y="67935"/>
                    <a:pt x="467461" y="103901"/>
                    <a:pt x="467461" y="141404"/>
                  </a:cubicBezTo>
                  <a:lnTo>
                    <a:pt x="467461" y="326057"/>
                  </a:lnTo>
                  <a:cubicBezTo>
                    <a:pt x="467461" y="363560"/>
                    <a:pt x="452563" y="399526"/>
                    <a:pt x="426045" y="426045"/>
                  </a:cubicBezTo>
                  <a:cubicBezTo>
                    <a:pt x="399526" y="452563"/>
                    <a:pt x="363560" y="467461"/>
                    <a:pt x="326057" y="467461"/>
                  </a:cubicBezTo>
                  <a:lnTo>
                    <a:pt x="141404" y="467461"/>
                  </a:lnTo>
                  <a:cubicBezTo>
                    <a:pt x="103901" y="467461"/>
                    <a:pt x="67935" y="452563"/>
                    <a:pt x="41416" y="426045"/>
                  </a:cubicBezTo>
                  <a:cubicBezTo>
                    <a:pt x="14898" y="399526"/>
                    <a:pt x="0" y="363560"/>
                    <a:pt x="0" y="326057"/>
                  </a:cubicBezTo>
                  <a:lnTo>
                    <a:pt x="0" y="141404"/>
                  </a:lnTo>
                  <a:cubicBezTo>
                    <a:pt x="0" y="103901"/>
                    <a:pt x="14898" y="67935"/>
                    <a:pt x="41416" y="41416"/>
                  </a:cubicBezTo>
                  <a:cubicBezTo>
                    <a:pt x="67935" y="14898"/>
                    <a:pt x="103901" y="0"/>
                    <a:pt x="141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467461" cy="524611"/>
            </a:xfrm>
            <a:prstGeom prst="rect">
              <a:avLst/>
            </a:prstGeom>
          </p:spPr>
          <p:txBody>
            <a:bodyPr anchor="ctr" rtlCol="false" tIns="50141" lIns="50141" bIns="50141" rIns="50141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11143694" y="8662463"/>
            <a:ext cx="348903" cy="348903"/>
          </a:xfrm>
          <a:custGeom>
            <a:avLst/>
            <a:gdLst/>
            <a:ahLst/>
            <a:cxnLst/>
            <a:rect r="r" b="b" t="t" l="l"/>
            <a:pathLst>
              <a:path h="348903" w="348903">
                <a:moveTo>
                  <a:pt x="0" y="0"/>
                </a:moveTo>
                <a:lnTo>
                  <a:pt x="348903" y="0"/>
                </a:lnTo>
                <a:lnTo>
                  <a:pt x="348903" y="348903"/>
                </a:lnTo>
                <a:lnTo>
                  <a:pt x="0" y="34890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30000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-10800000">
            <a:off x="1028700" y="3111804"/>
            <a:ext cx="260887" cy="1165694"/>
            <a:chOff x="0" y="0"/>
            <a:chExt cx="68711" cy="30701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8711" cy="307014"/>
            </a:xfrm>
            <a:custGeom>
              <a:avLst/>
              <a:gdLst/>
              <a:ahLst/>
              <a:cxnLst/>
              <a:rect r="r" b="b" t="t" l="l"/>
              <a:pathLst>
                <a:path h="307014" w="68711">
                  <a:moveTo>
                    <a:pt x="0" y="0"/>
                  </a:moveTo>
                  <a:lnTo>
                    <a:pt x="68711" y="0"/>
                  </a:lnTo>
                  <a:lnTo>
                    <a:pt x="68711" y="307014"/>
                  </a:lnTo>
                  <a:lnTo>
                    <a:pt x="0" y="307014"/>
                  </a:lnTo>
                  <a:close/>
                </a:path>
              </a:pathLst>
            </a:custGeom>
            <a:solidFill>
              <a:srgbClr val="5A64B2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68711" cy="3641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5400000">
            <a:off x="1187955" y="3519082"/>
            <a:ext cx="401302" cy="351139"/>
            <a:chOff x="0" y="0"/>
            <a:chExt cx="812800" cy="7112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E6092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6998413" y="3111804"/>
            <a:ext cx="260887" cy="1165694"/>
            <a:chOff x="0" y="0"/>
            <a:chExt cx="68711" cy="30701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8711" cy="307014"/>
            </a:xfrm>
            <a:custGeom>
              <a:avLst/>
              <a:gdLst/>
              <a:ahLst/>
              <a:cxnLst/>
              <a:rect r="r" b="b" t="t" l="l"/>
              <a:pathLst>
                <a:path h="307014" w="68711">
                  <a:moveTo>
                    <a:pt x="0" y="0"/>
                  </a:moveTo>
                  <a:lnTo>
                    <a:pt x="68711" y="0"/>
                  </a:lnTo>
                  <a:lnTo>
                    <a:pt x="68711" y="307014"/>
                  </a:lnTo>
                  <a:lnTo>
                    <a:pt x="0" y="307014"/>
                  </a:lnTo>
                  <a:close/>
                </a:path>
              </a:pathLst>
            </a:custGeom>
            <a:solidFill>
              <a:srgbClr val="99D98C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68711" cy="3641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-5400000">
            <a:off x="16698743" y="3519082"/>
            <a:ext cx="401302" cy="351139"/>
            <a:chOff x="0" y="0"/>
            <a:chExt cx="812800" cy="7112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99D98C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7767426" y="4436043"/>
            <a:ext cx="2758362" cy="2758362"/>
            <a:chOff x="0" y="0"/>
            <a:chExt cx="812800" cy="812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1F1F6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Freeform 41" id="41"/>
          <p:cNvSpPr/>
          <p:nvPr/>
        </p:nvSpPr>
        <p:spPr>
          <a:xfrm flipH="false" flipV="false" rot="0">
            <a:off x="9000960" y="8190108"/>
            <a:ext cx="881940" cy="749649"/>
          </a:xfrm>
          <a:custGeom>
            <a:avLst/>
            <a:gdLst/>
            <a:ahLst/>
            <a:cxnLst/>
            <a:rect r="r" b="b" t="t" l="l"/>
            <a:pathLst>
              <a:path h="749649" w="881940">
                <a:moveTo>
                  <a:pt x="0" y="0"/>
                </a:moveTo>
                <a:lnTo>
                  <a:pt x="881940" y="0"/>
                </a:lnTo>
                <a:lnTo>
                  <a:pt x="881940" y="749649"/>
                </a:lnTo>
                <a:lnTo>
                  <a:pt x="0" y="74964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10866715" y="3593807"/>
            <a:ext cx="902860" cy="802417"/>
          </a:xfrm>
          <a:custGeom>
            <a:avLst/>
            <a:gdLst/>
            <a:ahLst/>
            <a:cxnLst/>
            <a:rect r="r" b="b" t="t" l="l"/>
            <a:pathLst>
              <a:path h="802417" w="902860">
                <a:moveTo>
                  <a:pt x="0" y="0"/>
                </a:moveTo>
                <a:lnTo>
                  <a:pt x="902861" y="0"/>
                </a:lnTo>
                <a:lnTo>
                  <a:pt x="902861" y="802417"/>
                </a:lnTo>
                <a:lnTo>
                  <a:pt x="0" y="80241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6799901" y="3417906"/>
            <a:ext cx="786527" cy="859593"/>
          </a:xfrm>
          <a:custGeom>
            <a:avLst/>
            <a:gdLst/>
            <a:ahLst/>
            <a:cxnLst/>
            <a:rect r="r" b="b" t="t" l="l"/>
            <a:pathLst>
              <a:path h="859593" w="786527">
                <a:moveTo>
                  <a:pt x="0" y="0"/>
                </a:moveTo>
                <a:lnTo>
                  <a:pt x="786527" y="0"/>
                </a:lnTo>
                <a:lnTo>
                  <a:pt x="786527" y="859592"/>
                </a:lnTo>
                <a:lnTo>
                  <a:pt x="0" y="859592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6085610" y="6119030"/>
            <a:ext cx="884244" cy="754924"/>
          </a:xfrm>
          <a:custGeom>
            <a:avLst/>
            <a:gdLst/>
            <a:ahLst/>
            <a:cxnLst/>
            <a:rect r="r" b="b" t="t" l="l"/>
            <a:pathLst>
              <a:path h="754924" w="884244">
                <a:moveTo>
                  <a:pt x="0" y="0"/>
                </a:moveTo>
                <a:lnTo>
                  <a:pt x="884244" y="0"/>
                </a:lnTo>
                <a:lnTo>
                  <a:pt x="884244" y="754923"/>
                </a:lnTo>
                <a:lnTo>
                  <a:pt x="0" y="75492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1820181" y="3546706"/>
            <a:ext cx="3903364" cy="640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  <a:spcBef>
                <a:spcPct val="0"/>
              </a:spcBef>
            </a:pPr>
            <a:r>
              <a:rPr lang="en-US" sz="1799">
                <a:solidFill>
                  <a:srgbClr val="737373"/>
                </a:solidFill>
                <a:latin typeface="Poppins"/>
                <a:ea typeface="Poppins"/>
                <a:cs typeface="Poppins"/>
                <a:sym typeface="Poppins"/>
              </a:rPr>
              <a:t>Bersih / 0 (Tidak ada data kosong, tidak perlu imputasi).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820181" y="3045709"/>
            <a:ext cx="3903364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Missing Values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619794" y="5791387"/>
            <a:ext cx="4694845" cy="1812272"/>
            <a:chOff x="0" y="0"/>
            <a:chExt cx="6259793" cy="2416362"/>
          </a:xfrm>
        </p:grpSpPr>
        <p:grpSp>
          <p:nvGrpSpPr>
            <p:cNvPr name="Group 48" id="48"/>
            <p:cNvGrpSpPr/>
            <p:nvPr/>
          </p:nvGrpSpPr>
          <p:grpSpPr>
            <a:xfrm rot="-10800000">
              <a:off x="0" y="11927"/>
              <a:ext cx="347850" cy="1554259"/>
              <a:chOff x="0" y="0"/>
              <a:chExt cx="68711" cy="307014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68711" cy="307014"/>
              </a:xfrm>
              <a:custGeom>
                <a:avLst/>
                <a:gdLst/>
                <a:ahLst/>
                <a:cxnLst/>
                <a:rect r="r" b="b" t="t" l="l"/>
                <a:pathLst>
                  <a:path h="307014" w="68711">
                    <a:moveTo>
                      <a:pt x="0" y="0"/>
                    </a:moveTo>
                    <a:lnTo>
                      <a:pt x="68711" y="0"/>
                    </a:lnTo>
                    <a:lnTo>
                      <a:pt x="68711" y="307014"/>
                    </a:lnTo>
                    <a:lnTo>
                      <a:pt x="0" y="307014"/>
                    </a:lnTo>
                    <a:close/>
                  </a:path>
                </a:pathLst>
              </a:custGeom>
              <a:solidFill>
                <a:srgbClr val="158CAE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0" y="-57150"/>
                <a:ext cx="68711" cy="36416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5400000">
              <a:off x="212340" y="554964"/>
              <a:ext cx="535069" cy="468185"/>
              <a:chOff x="0" y="0"/>
              <a:chExt cx="812800" cy="7112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158CAE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127000" y="273050"/>
                <a:ext cx="558800" cy="3873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54" id="54"/>
            <p:cNvSpPr txBox="true"/>
            <p:nvPr/>
          </p:nvSpPr>
          <p:spPr>
            <a:xfrm rot="0">
              <a:off x="1055308" y="743772"/>
              <a:ext cx="5204485" cy="16725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19"/>
                </a:lnSpc>
                <a:spcBef>
                  <a:spcPct val="0"/>
                </a:spcBef>
              </a:pPr>
              <a:r>
                <a:rPr lang="en-US" sz="1799">
                  <a:solidFill>
                    <a:srgbClr val="737373"/>
                  </a:solidFill>
                  <a:latin typeface="Poppins"/>
                  <a:ea typeface="Poppins"/>
                  <a:cs typeface="Poppins"/>
                  <a:sym typeface="Poppins"/>
                </a:rPr>
                <a:t> Keep / Tidak dihapus (Data survei tanpa ID unik, wajar jika ada warga dengan profil gaya hidup identik).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1055308" y="-57150"/>
              <a:ext cx="5204485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 b="true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Duplikasi Data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2474861" y="3646400"/>
            <a:ext cx="4085869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19"/>
              </a:lnSpc>
              <a:spcBef>
                <a:spcPct val="0"/>
              </a:spcBef>
            </a:pPr>
            <a:r>
              <a:rPr lang="en-US" sz="1799">
                <a:solidFill>
                  <a:srgbClr val="737373"/>
                </a:solidFill>
                <a:latin typeface="Poppins"/>
                <a:ea typeface="Poppins"/>
                <a:cs typeface="Poppins"/>
                <a:sym typeface="Poppins"/>
              </a:rPr>
              <a:t>Menggabungkan target Diabetes &amp; Prediabetes menjadi satu kelas biner (1 = Berisiko, 0 = Sehat).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2474861" y="3045709"/>
            <a:ext cx="4085869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40"/>
              </a:lnSpc>
            </a:pPr>
            <a:r>
              <a:rPr lang="en-US" sz="26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Transformasi</a:t>
            </a:r>
            <a:r>
              <a:rPr lang="en-US" b="true" sz="260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Target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12801339" y="5681316"/>
            <a:ext cx="4768217" cy="1812272"/>
            <a:chOff x="0" y="0"/>
            <a:chExt cx="6357623" cy="2416362"/>
          </a:xfrm>
        </p:grpSpPr>
        <p:grpSp>
          <p:nvGrpSpPr>
            <p:cNvPr name="Group 59" id="59"/>
            <p:cNvGrpSpPr/>
            <p:nvPr/>
          </p:nvGrpSpPr>
          <p:grpSpPr>
            <a:xfrm rot="0">
              <a:off x="6009773" y="14112"/>
              <a:ext cx="347850" cy="1554259"/>
              <a:chOff x="0" y="0"/>
              <a:chExt cx="68711" cy="307014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68711" cy="307014"/>
              </a:xfrm>
              <a:custGeom>
                <a:avLst/>
                <a:gdLst/>
                <a:ahLst/>
                <a:cxnLst/>
                <a:rect r="r" b="b" t="t" l="l"/>
                <a:pathLst>
                  <a:path h="307014" w="68711">
                    <a:moveTo>
                      <a:pt x="0" y="0"/>
                    </a:moveTo>
                    <a:lnTo>
                      <a:pt x="68711" y="0"/>
                    </a:lnTo>
                    <a:lnTo>
                      <a:pt x="68711" y="307014"/>
                    </a:lnTo>
                    <a:lnTo>
                      <a:pt x="0" y="307014"/>
                    </a:lnTo>
                    <a:close/>
                  </a:path>
                </a:pathLst>
              </a:custGeom>
              <a:solidFill>
                <a:srgbClr val="35A0A4"/>
              </a:solidFill>
            </p:spPr>
          </p:sp>
          <p:sp>
            <p:nvSpPr>
              <p:cNvPr name="TextBox 61" id="61"/>
              <p:cNvSpPr txBox="true"/>
              <p:nvPr/>
            </p:nvSpPr>
            <p:spPr>
              <a:xfrm>
                <a:off x="0" y="-57150"/>
                <a:ext cx="68711" cy="36416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grpSp>
          <p:nvGrpSpPr>
            <p:cNvPr name="Group 62" id="62"/>
            <p:cNvGrpSpPr/>
            <p:nvPr/>
          </p:nvGrpSpPr>
          <p:grpSpPr>
            <a:xfrm rot="-5400000">
              <a:off x="5610214" y="557149"/>
              <a:ext cx="535069" cy="468185"/>
              <a:chOff x="0" y="0"/>
              <a:chExt cx="812800" cy="711200"/>
            </a:xfrm>
          </p:grpSpPr>
          <p:sp>
            <p:nvSpPr>
              <p:cNvPr name="Freeform 63" id="6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35A0A4"/>
              </a:solidFill>
            </p:spPr>
          </p:sp>
          <p:sp>
            <p:nvSpPr>
              <p:cNvPr name="TextBox 64" id="64"/>
              <p:cNvSpPr txBox="true"/>
              <p:nvPr/>
            </p:nvSpPr>
            <p:spPr>
              <a:xfrm>
                <a:off x="127000" y="273050"/>
                <a:ext cx="558800" cy="3873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65" id="65"/>
            <p:cNvSpPr txBox="true"/>
            <p:nvPr/>
          </p:nvSpPr>
          <p:spPr>
            <a:xfrm rot="0">
              <a:off x="0" y="743772"/>
              <a:ext cx="5426196" cy="16725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519"/>
                </a:lnSpc>
                <a:spcBef>
                  <a:spcPct val="0"/>
                </a:spcBef>
              </a:pPr>
              <a:r>
                <a:rPr lang="en-US" sz="1799">
                  <a:solidFill>
                    <a:srgbClr val="737373"/>
                  </a:solidFill>
                  <a:latin typeface="Poppins"/>
                  <a:ea typeface="Poppins"/>
                  <a:cs typeface="Poppins"/>
                  <a:sym typeface="Poppins"/>
                </a:rPr>
                <a:t>Drop variabel HighChol &amp; CholCheck (Memastikan prediksi murni dari gaya hidup sehari-hari, tanpa tes lab).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0">
              <a:off x="0" y="-57150"/>
              <a:ext cx="5426196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640"/>
                </a:lnSpc>
              </a:pPr>
              <a:r>
                <a:rPr lang="en-US" sz="2600" b="true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Seleksi Fitur:</a:t>
              </a: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2195190" y="676275"/>
            <a:ext cx="14933667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Proses Data Cleaning &amp; Preprocessing</a:t>
            </a:r>
          </a:p>
        </p:txBody>
      </p:sp>
      <p:sp>
        <p:nvSpPr>
          <p:cNvPr name="Freeform 68" id="68"/>
          <p:cNvSpPr/>
          <p:nvPr/>
        </p:nvSpPr>
        <p:spPr>
          <a:xfrm flipH="false" flipV="false" rot="0">
            <a:off x="10887738" y="5497719"/>
            <a:ext cx="1994192" cy="1994192"/>
          </a:xfrm>
          <a:custGeom>
            <a:avLst/>
            <a:gdLst/>
            <a:ahLst/>
            <a:cxnLst/>
            <a:rect r="r" b="b" t="t" l="l"/>
            <a:pathLst>
              <a:path h="1994192" w="1994192">
                <a:moveTo>
                  <a:pt x="0" y="0"/>
                </a:moveTo>
                <a:lnTo>
                  <a:pt x="1994192" y="0"/>
                </a:lnTo>
                <a:lnTo>
                  <a:pt x="1994192" y="1994192"/>
                </a:lnTo>
                <a:lnTo>
                  <a:pt x="0" y="199419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9" id="69"/>
          <p:cNvGrpSpPr/>
          <p:nvPr/>
        </p:nvGrpSpPr>
        <p:grpSpPr>
          <a:xfrm rot="0">
            <a:off x="11063579" y="5499395"/>
            <a:ext cx="1642510" cy="1642510"/>
            <a:chOff x="0" y="0"/>
            <a:chExt cx="467461" cy="467461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67461" cy="467461"/>
            </a:xfrm>
            <a:custGeom>
              <a:avLst/>
              <a:gdLst/>
              <a:ahLst/>
              <a:cxnLst/>
              <a:rect r="r" b="b" t="t" l="l"/>
              <a:pathLst>
                <a:path h="467461" w="467461">
                  <a:moveTo>
                    <a:pt x="141404" y="0"/>
                  </a:moveTo>
                  <a:lnTo>
                    <a:pt x="326057" y="0"/>
                  </a:lnTo>
                  <a:cubicBezTo>
                    <a:pt x="363560" y="0"/>
                    <a:pt x="399526" y="14898"/>
                    <a:pt x="426045" y="41416"/>
                  </a:cubicBezTo>
                  <a:cubicBezTo>
                    <a:pt x="452563" y="67935"/>
                    <a:pt x="467461" y="103901"/>
                    <a:pt x="467461" y="141404"/>
                  </a:cubicBezTo>
                  <a:lnTo>
                    <a:pt x="467461" y="326057"/>
                  </a:lnTo>
                  <a:cubicBezTo>
                    <a:pt x="467461" y="363560"/>
                    <a:pt x="452563" y="399526"/>
                    <a:pt x="426045" y="426045"/>
                  </a:cubicBezTo>
                  <a:cubicBezTo>
                    <a:pt x="399526" y="452563"/>
                    <a:pt x="363560" y="467461"/>
                    <a:pt x="326057" y="467461"/>
                  </a:cubicBezTo>
                  <a:lnTo>
                    <a:pt x="141404" y="467461"/>
                  </a:lnTo>
                  <a:cubicBezTo>
                    <a:pt x="103901" y="467461"/>
                    <a:pt x="67935" y="452563"/>
                    <a:pt x="41416" y="426045"/>
                  </a:cubicBezTo>
                  <a:cubicBezTo>
                    <a:pt x="14898" y="399526"/>
                    <a:pt x="0" y="363560"/>
                    <a:pt x="0" y="326057"/>
                  </a:cubicBezTo>
                  <a:lnTo>
                    <a:pt x="0" y="141404"/>
                  </a:lnTo>
                  <a:cubicBezTo>
                    <a:pt x="0" y="103901"/>
                    <a:pt x="14898" y="67935"/>
                    <a:pt x="41416" y="41416"/>
                  </a:cubicBezTo>
                  <a:cubicBezTo>
                    <a:pt x="67935" y="14898"/>
                    <a:pt x="103901" y="0"/>
                    <a:pt x="141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57150"/>
              <a:ext cx="467461" cy="524611"/>
            </a:xfrm>
            <a:prstGeom prst="rect">
              <a:avLst/>
            </a:prstGeom>
          </p:spPr>
          <p:txBody>
            <a:bodyPr anchor="ctr" rtlCol="false" tIns="50141" lIns="50141" bIns="50141" rIns="50141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72" id="72"/>
          <p:cNvGrpSpPr/>
          <p:nvPr/>
        </p:nvGrpSpPr>
        <p:grpSpPr>
          <a:xfrm rot="-10800000">
            <a:off x="530494" y="7939724"/>
            <a:ext cx="260887" cy="1165694"/>
            <a:chOff x="0" y="0"/>
            <a:chExt cx="68711" cy="307014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68711" cy="307014"/>
            </a:xfrm>
            <a:custGeom>
              <a:avLst/>
              <a:gdLst/>
              <a:ahLst/>
              <a:cxnLst/>
              <a:rect r="r" b="b" t="t" l="l"/>
              <a:pathLst>
                <a:path h="307014" w="68711">
                  <a:moveTo>
                    <a:pt x="0" y="0"/>
                  </a:moveTo>
                  <a:lnTo>
                    <a:pt x="68711" y="0"/>
                  </a:lnTo>
                  <a:lnTo>
                    <a:pt x="68711" y="307014"/>
                  </a:lnTo>
                  <a:lnTo>
                    <a:pt x="0" y="307014"/>
                  </a:lnTo>
                  <a:close/>
                </a:path>
              </a:pathLst>
            </a:custGeom>
            <a:solidFill>
              <a:srgbClr val="35A0A4"/>
            </a:solid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57150"/>
              <a:ext cx="68711" cy="3641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grpSp>
        <p:nvGrpSpPr>
          <p:cNvPr name="Group 75" id="75"/>
          <p:cNvGrpSpPr/>
          <p:nvPr/>
        </p:nvGrpSpPr>
        <p:grpSpPr>
          <a:xfrm rot="5400000">
            <a:off x="689749" y="8347002"/>
            <a:ext cx="401302" cy="351139"/>
            <a:chOff x="0" y="0"/>
            <a:chExt cx="812800" cy="71120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5A0A4"/>
            </a:solidFill>
          </p:spPr>
        </p:sp>
        <p:sp>
          <p:nvSpPr>
            <p:cNvPr name="TextBox 77" id="77"/>
            <p:cNvSpPr txBox="true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78" id="78"/>
          <p:cNvSpPr txBox="true"/>
          <p:nvPr/>
        </p:nvSpPr>
        <p:spPr>
          <a:xfrm rot="0">
            <a:off x="1321975" y="8474320"/>
            <a:ext cx="6995268" cy="1583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  <a:spcBef>
                <a:spcPct val="0"/>
              </a:spcBef>
            </a:pPr>
            <a:r>
              <a:rPr lang="en-US" sz="1799">
                <a:solidFill>
                  <a:srgbClr val="737373"/>
                </a:solidFill>
                <a:latin typeface="Poppins"/>
                <a:ea typeface="Poppins"/>
                <a:cs typeface="Poppins"/>
                <a:sym typeface="Poppins"/>
              </a:rPr>
              <a:t> Outlier (seperti nilai BMI ekstrem) tidak dihapus karena merupakan kondisi medis valid (obesitas parah). Sebagai solusinya, data tersebut distandarisasi menggunakan MinMaxScaler menjadi rentang 0-1 agar bobotnya seimbang dan tidak membiaskan model.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321975" y="7873629"/>
            <a:ext cx="6684708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Penanganan Outliers &amp; Standarisasi</a:t>
            </a:r>
          </a:p>
        </p:txBody>
      </p:sp>
      <p:sp>
        <p:nvSpPr>
          <p:cNvPr name="Freeform 80" id="80"/>
          <p:cNvSpPr/>
          <p:nvPr/>
        </p:nvSpPr>
        <p:spPr>
          <a:xfrm flipH="false" flipV="false" rot="0">
            <a:off x="11442712" y="5943189"/>
            <a:ext cx="884244" cy="754924"/>
          </a:xfrm>
          <a:custGeom>
            <a:avLst/>
            <a:gdLst/>
            <a:ahLst/>
            <a:cxnLst/>
            <a:rect r="r" b="b" t="t" l="l"/>
            <a:pathLst>
              <a:path h="754924" w="884244">
                <a:moveTo>
                  <a:pt x="0" y="0"/>
                </a:moveTo>
                <a:lnTo>
                  <a:pt x="884244" y="0"/>
                </a:lnTo>
                <a:lnTo>
                  <a:pt x="884244" y="754923"/>
                </a:lnTo>
                <a:lnTo>
                  <a:pt x="0" y="75492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1" id="81"/>
          <p:cNvGrpSpPr/>
          <p:nvPr/>
        </p:nvGrpSpPr>
        <p:grpSpPr>
          <a:xfrm rot="0">
            <a:off x="381176" y="508897"/>
            <a:ext cx="1295049" cy="1506966"/>
            <a:chOff x="0" y="0"/>
            <a:chExt cx="1726732" cy="2009288"/>
          </a:xfrm>
        </p:grpSpPr>
        <p:grpSp>
          <p:nvGrpSpPr>
            <p:cNvPr name="Group 82" id="82"/>
            <p:cNvGrpSpPr/>
            <p:nvPr/>
          </p:nvGrpSpPr>
          <p:grpSpPr>
            <a:xfrm rot="0">
              <a:off x="0" y="0"/>
              <a:ext cx="1726732" cy="2009288"/>
              <a:chOff x="0" y="0"/>
              <a:chExt cx="698500" cy="812800"/>
            </a:xfrm>
          </p:grpSpPr>
          <p:sp>
            <p:nvSpPr>
              <p:cNvPr name="Freeform 83" id="83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99D98C"/>
              </a:solidFill>
            </p:spPr>
          </p:sp>
          <p:sp>
            <p:nvSpPr>
              <p:cNvPr name="TextBox 84" id="84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85" id="85"/>
            <p:cNvSpPr txBox="true"/>
            <p:nvPr/>
          </p:nvSpPr>
          <p:spPr>
            <a:xfrm rot="0">
              <a:off x="83564" y="284972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6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1836760" y="8522571"/>
            <a:ext cx="5362071" cy="867965"/>
            <a:chOff x="0" y="0"/>
            <a:chExt cx="1412233" cy="2286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412233" cy="228600"/>
            </a:xfrm>
            <a:custGeom>
              <a:avLst/>
              <a:gdLst/>
              <a:ahLst/>
              <a:cxnLst/>
              <a:rect r="r" b="b" t="t" l="l"/>
              <a:pathLst>
                <a:path h="228600" w="1412233">
                  <a:moveTo>
                    <a:pt x="72192" y="0"/>
                  </a:moveTo>
                  <a:lnTo>
                    <a:pt x="1340041" y="0"/>
                  </a:lnTo>
                  <a:cubicBezTo>
                    <a:pt x="1379912" y="0"/>
                    <a:pt x="1412233" y="32321"/>
                    <a:pt x="1412233" y="72192"/>
                  </a:cubicBezTo>
                  <a:lnTo>
                    <a:pt x="1412233" y="156408"/>
                  </a:lnTo>
                  <a:cubicBezTo>
                    <a:pt x="1412233" y="175555"/>
                    <a:pt x="1404627" y="193917"/>
                    <a:pt x="1391088" y="207455"/>
                  </a:cubicBezTo>
                  <a:cubicBezTo>
                    <a:pt x="1377550" y="220994"/>
                    <a:pt x="1359188" y="228600"/>
                    <a:pt x="1340041" y="228600"/>
                  </a:cubicBezTo>
                  <a:lnTo>
                    <a:pt x="72192" y="228600"/>
                  </a:lnTo>
                  <a:cubicBezTo>
                    <a:pt x="53045" y="228600"/>
                    <a:pt x="34683" y="220994"/>
                    <a:pt x="21144" y="207455"/>
                  </a:cubicBezTo>
                  <a:cubicBezTo>
                    <a:pt x="7606" y="193917"/>
                    <a:pt x="0" y="175555"/>
                    <a:pt x="0" y="156408"/>
                  </a:cubicBezTo>
                  <a:lnTo>
                    <a:pt x="0" y="72192"/>
                  </a:lnTo>
                  <a:cubicBezTo>
                    <a:pt x="0" y="53045"/>
                    <a:pt x="7606" y="34683"/>
                    <a:pt x="21144" y="21144"/>
                  </a:cubicBezTo>
                  <a:cubicBezTo>
                    <a:pt x="34683" y="7606"/>
                    <a:pt x="53045" y="0"/>
                    <a:pt x="72192" y="0"/>
                  </a:cubicBezTo>
                  <a:close/>
                </a:path>
              </a:pathLst>
            </a:custGeom>
            <a:solidFill>
              <a:srgbClr val="35A0A4"/>
            </a:solid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57150"/>
              <a:ext cx="1412233" cy="285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89" id="89"/>
          <p:cNvSpPr txBox="true"/>
          <p:nvPr/>
        </p:nvSpPr>
        <p:spPr>
          <a:xfrm rot="0">
            <a:off x="13461816" y="8703824"/>
            <a:ext cx="2111959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40"/>
              </a:lnSpc>
            </a:pPr>
            <a:r>
              <a:rPr lang="en-US" b="true" sz="2600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  <a:hlinkClick r:id="rId24" tooltip="https://colab.research.google.com/drive/1nPJj3q3xsfNEPD-qH0ha4mSpXfgnsgTk?usp=sharing"/>
              </a:rPr>
              <a:t>LINK COLAB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762466" y="9931837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2079" y="27911"/>
            <a:ext cx="936829" cy="354824"/>
          </a:xfrm>
          <a:custGeom>
            <a:avLst/>
            <a:gdLst/>
            <a:ahLst/>
            <a:cxnLst/>
            <a:rect r="r" b="b" t="t" l="l"/>
            <a:pathLst>
              <a:path h="354824" w="936829">
                <a:moveTo>
                  <a:pt x="0" y="0"/>
                </a:moveTo>
                <a:lnTo>
                  <a:pt x="936829" y="0"/>
                </a:lnTo>
                <a:lnTo>
                  <a:pt x="936829" y="354824"/>
                </a:lnTo>
                <a:lnTo>
                  <a:pt x="0" y="3548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762466" y="-292364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8070" y="9931837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96846" y="1890145"/>
            <a:ext cx="508502" cy="508502"/>
          </a:xfrm>
          <a:custGeom>
            <a:avLst/>
            <a:gdLst/>
            <a:ahLst/>
            <a:cxnLst/>
            <a:rect r="r" b="b" t="t" l="l"/>
            <a:pathLst>
              <a:path h="508502" w="508502">
                <a:moveTo>
                  <a:pt x="0" y="0"/>
                </a:moveTo>
                <a:lnTo>
                  <a:pt x="508503" y="0"/>
                </a:lnTo>
                <a:lnTo>
                  <a:pt x="508503" y="508502"/>
                </a:lnTo>
                <a:lnTo>
                  <a:pt x="0" y="50850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3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241949" y="1262380"/>
            <a:ext cx="6471634" cy="8598462"/>
          </a:xfrm>
          <a:custGeom>
            <a:avLst/>
            <a:gdLst/>
            <a:ahLst/>
            <a:cxnLst/>
            <a:rect r="r" b="b" t="t" l="l"/>
            <a:pathLst>
              <a:path h="8598462" w="6471634">
                <a:moveTo>
                  <a:pt x="0" y="0"/>
                </a:moveTo>
                <a:lnTo>
                  <a:pt x="6471634" y="0"/>
                </a:lnTo>
                <a:lnTo>
                  <a:pt x="6471634" y="8598462"/>
                </a:lnTo>
                <a:lnTo>
                  <a:pt x="0" y="85984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483236" y="-161925"/>
            <a:ext cx="13321528" cy="101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34"/>
              </a:lnSpc>
              <a:spcBef>
                <a:spcPct val="0"/>
              </a:spcBef>
            </a:pPr>
            <a:r>
              <a:rPr lang="en-US" b="true" sz="559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Exp</a:t>
            </a:r>
            <a:r>
              <a:rPr lang="en-US" b="true" sz="559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lora</a:t>
            </a:r>
            <a:r>
              <a:rPr lang="en-US" b="true" sz="559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tory Data Analysis (EDA)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64091" y="2524605"/>
            <a:ext cx="7295209" cy="5190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sz="2287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Insight:</a:t>
            </a: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Dari 1.999 responden, 76,3% (1.525 orang) sehat dan 23,7% (474 orang) berisiko diabetes, mencerminkan kondisi imbalanced data yang sesuai realita lapangan.</a:t>
            </a:r>
          </a:p>
          <a:p>
            <a:pPr algn="l">
              <a:lnSpc>
                <a:spcPts val="3202"/>
              </a:lnSpc>
            </a:pPr>
          </a:p>
          <a:p>
            <a:pPr algn="l">
              <a:lnSpc>
                <a:spcPts val="3202"/>
              </a:lnSpc>
            </a:pP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Boxplot menunjukkan kelompok berisiko </a:t>
            </a: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memiliki BMI, General Health, dan Usia lebih tinggi dibanding kelompok sehat, mengonfirmasi bahwa obesitas dan penuaan merupakan indikator prediktif utama dalam dataset ini.</a:t>
            </a:r>
          </a:p>
          <a:p>
            <a:pPr algn="l">
              <a:lnSpc>
                <a:spcPts val="3202"/>
              </a:lnSpc>
            </a:pPr>
          </a:p>
          <a:p>
            <a:pPr algn="l">
              <a:lnSpc>
                <a:spcPts val="3202"/>
              </a:lnSpc>
            </a:pPr>
          </a:p>
          <a:p>
            <a:pPr algn="l">
              <a:lnSpc>
                <a:spcPts val="3202"/>
              </a:lnSpc>
            </a:pPr>
          </a:p>
        </p:txBody>
      </p:sp>
      <p:grpSp>
        <p:nvGrpSpPr>
          <p:cNvPr name="Group 11" id="11"/>
          <p:cNvGrpSpPr/>
          <p:nvPr/>
        </p:nvGrpSpPr>
        <p:grpSpPr>
          <a:xfrm rot="0">
            <a:off x="12396296" y="9261344"/>
            <a:ext cx="4544685" cy="599498"/>
            <a:chOff x="0" y="0"/>
            <a:chExt cx="1196954" cy="15789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96954" cy="157892"/>
            </a:xfrm>
            <a:custGeom>
              <a:avLst/>
              <a:gdLst/>
              <a:ahLst/>
              <a:cxnLst/>
              <a:rect r="r" b="b" t="t" l="l"/>
              <a:pathLst>
                <a:path h="157892" w="1196954">
                  <a:moveTo>
                    <a:pt x="78946" y="0"/>
                  </a:moveTo>
                  <a:lnTo>
                    <a:pt x="1118008" y="0"/>
                  </a:lnTo>
                  <a:cubicBezTo>
                    <a:pt x="1138946" y="0"/>
                    <a:pt x="1159026" y="8318"/>
                    <a:pt x="1173831" y="23123"/>
                  </a:cubicBezTo>
                  <a:cubicBezTo>
                    <a:pt x="1188636" y="37928"/>
                    <a:pt x="1196954" y="58008"/>
                    <a:pt x="1196954" y="78946"/>
                  </a:cubicBezTo>
                  <a:lnTo>
                    <a:pt x="1196954" y="78946"/>
                  </a:lnTo>
                  <a:cubicBezTo>
                    <a:pt x="1196954" y="99884"/>
                    <a:pt x="1188636" y="119964"/>
                    <a:pt x="1173831" y="134770"/>
                  </a:cubicBezTo>
                  <a:cubicBezTo>
                    <a:pt x="1159026" y="149575"/>
                    <a:pt x="1138946" y="157892"/>
                    <a:pt x="1118008" y="157892"/>
                  </a:cubicBezTo>
                  <a:lnTo>
                    <a:pt x="78946" y="157892"/>
                  </a:lnTo>
                  <a:cubicBezTo>
                    <a:pt x="58008" y="157892"/>
                    <a:pt x="37928" y="149575"/>
                    <a:pt x="23123" y="134770"/>
                  </a:cubicBezTo>
                  <a:cubicBezTo>
                    <a:pt x="8318" y="119964"/>
                    <a:pt x="0" y="99884"/>
                    <a:pt x="0" y="78946"/>
                  </a:cubicBezTo>
                  <a:lnTo>
                    <a:pt x="0" y="78946"/>
                  </a:lnTo>
                  <a:cubicBezTo>
                    <a:pt x="0" y="58008"/>
                    <a:pt x="8318" y="37928"/>
                    <a:pt x="23123" y="23123"/>
                  </a:cubicBezTo>
                  <a:cubicBezTo>
                    <a:pt x="37928" y="8318"/>
                    <a:pt x="58008" y="0"/>
                    <a:pt x="78946" y="0"/>
                  </a:cubicBezTo>
                  <a:close/>
                </a:path>
              </a:pathLst>
            </a:custGeom>
            <a:solidFill>
              <a:srgbClr val="158CAE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1196954" cy="2150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574559" y="9308363"/>
            <a:ext cx="2111959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40"/>
              </a:lnSpc>
            </a:pPr>
            <a:r>
              <a:rPr lang="en-US" b="true" sz="2600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  <a:hlinkClick r:id="rId14" tooltip="https://colab.research.google.com/drive/1PbOYLBBjsZIY5UFrJVF89rX6a7_NDiEE?usp=sharing"/>
              </a:rPr>
              <a:t>LINK COLAB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381176" y="508897"/>
            <a:ext cx="1295049" cy="1506966"/>
            <a:chOff x="0" y="0"/>
            <a:chExt cx="1726732" cy="2009288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0" y="0"/>
              <a:ext cx="1726732" cy="2009288"/>
              <a:chOff x="0" y="0"/>
              <a:chExt cx="69850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35A0A4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83564" y="284972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762466" y="9931837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610915" y="-84122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762466" y="-292364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8070" y="9931837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16625" y="2197130"/>
            <a:ext cx="348903" cy="348903"/>
          </a:xfrm>
          <a:custGeom>
            <a:avLst/>
            <a:gdLst/>
            <a:ahLst/>
            <a:cxnLst/>
            <a:rect r="r" b="b" t="t" l="l"/>
            <a:pathLst>
              <a:path h="348903" w="348903">
                <a:moveTo>
                  <a:pt x="0" y="0"/>
                </a:moveTo>
                <a:lnTo>
                  <a:pt x="348903" y="0"/>
                </a:lnTo>
                <a:lnTo>
                  <a:pt x="348903" y="348902"/>
                </a:lnTo>
                <a:lnTo>
                  <a:pt x="0" y="34890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3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81176" y="0"/>
            <a:ext cx="16878124" cy="2015863"/>
            <a:chOff x="0" y="0"/>
            <a:chExt cx="22504166" cy="268781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863366" y="-161925"/>
              <a:ext cx="21640800" cy="12930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840"/>
                </a:lnSpc>
                <a:spcBef>
                  <a:spcPct val="0"/>
                </a:spcBef>
              </a:pPr>
              <a:r>
                <a:rPr lang="en-US" b="true" sz="5600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An</a:t>
              </a:r>
              <a:r>
                <a:rPr lang="en-US" b="true" sz="5600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alisis</a:t>
              </a:r>
              <a:r>
                <a:rPr lang="en-US" b="true" sz="5600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Statistik</a:t>
              </a:r>
            </a:p>
          </p:txBody>
        </p:sp>
        <p:grpSp>
          <p:nvGrpSpPr>
            <p:cNvPr name="Group 10" id="10"/>
            <p:cNvGrpSpPr/>
            <p:nvPr/>
          </p:nvGrpSpPr>
          <p:grpSpPr>
            <a:xfrm rot="0">
              <a:off x="0" y="678529"/>
              <a:ext cx="1726732" cy="2009288"/>
              <a:chOff x="0" y="0"/>
              <a:chExt cx="6985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E6092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13" id="13"/>
            <p:cNvSpPr txBox="true"/>
            <p:nvPr/>
          </p:nvSpPr>
          <p:spPr>
            <a:xfrm rot="0">
              <a:off x="83564" y="963501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2257874" y="1262380"/>
            <a:ext cx="9636826" cy="5232711"/>
          </a:xfrm>
          <a:custGeom>
            <a:avLst/>
            <a:gdLst/>
            <a:ahLst/>
            <a:cxnLst/>
            <a:rect r="r" b="b" t="t" l="l"/>
            <a:pathLst>
              <a:path h="5232711" w="9636826">
                <a:moveTo>
                  <a:pt x="0" y="0"/>
                </a:moveTo>
                <a:lnTo>
                  <a:pt x="9636826" y="0"/>
                </a:lnTo>
                <a:lnTo>
                  <a:pt x="9636826" y="5232711"/>
                </a:lnTo>
                <a:lnTo>
                  <a:pt x="0" y="52327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2257874" y="6646951"/>
            <a:ext cx="9636826" cy="3284886"/>
          </a:xfrm>
          <a:custGeom>
            <a:avLst/>
            <a:gdLst/>
            <a:ahLst/>
            <a:cxnLst/>
            <a:rect r="r" b="b" t="t" l="l"/>
            <a:pathLst>
              <a:path h="3284886" w="9636826">
                <a:moveTo>
                  <a:pt x="0" y="0"/>
                </a:moveTo>
                <a:lnTo>
                  <a:pt x="9636826" y="0"/>
                </a:lnTo>
                <a:lnTo>
                  <a:pt x="9636826" y="3284886"/>
                </a:lnTo>
                <a:lnTo>
                  <a:pt x="0" y="32848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285225" y="1224280"/>
            <a:ext cx="4627402" cy="5449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Insight:</a:t>
            </a: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Korelasi Pearson menunjukkan General Health (0.27), High Blood Pressure (0.24), dan BMI (0.24) sebagai faktor risiko terkuat, divalidasi oleh Uji Mann-Whitney U (p &lt; 0.05).</a:t>
            </a:r>
          </a:p>
          <a:p>
            <a:pPr algn="l">
              <a:lnSpc>
                <a:spcPts val="3080"/>
              </a:lnSpc>
            </a:pP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Income (-0.17) dan Physical Activity (-0.15) berperan sebagai faktor protektif, memberikan dasar ilmiah bagi pemilihan fitur pada pengembangan model predik</a:t>
            </a: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 selanjutnya.</a:t>
            </a:r>
          </a:p>
          <a:p>
            <a:pPr algn="l">
              <a:lnSpc>
                <a:spcPts val="3080"/>
              </a:lnSpc>
            </a:pPr>
          </a:p>
        </p:txBody>
      </p:sp>
      <p:grpSp>
        <p:nvGrpSpPr>
          <p:cNvPr name="Group 17" id="17"/>
          <p:cNvGrpSpPr/>
          <p:nvPr/>
        </p:nvGrpSpPr>
        <p:grpSpPr>
          <a:xfrm rot="0">
            <a:off x="13014898" y="8958551"/>
            <a:ext cx="4544685" cy="526472"/>
            <a:chOff x="0" y="0"/>
            <a:chExt cx="6059579" cy="701963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6059579" cy="701963"/>
              <a:chOff x="0" y="0"/>
              <a:chExt cx="1196954" cy="138659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196954" cy="138659"/>
              </a:xfrm>
              <a:custGeom>
                <a:avLst/>
                <a:gdLst/>
                <a:ahLst/>
                <a:cxnLst/>
                <a:rect r="r" b="b" t="t" l="l"/>
                <a:pathLst>
                  <a:path h="138659" w="1196954">
                    <a:moveTo>
                      <a:pt x="69330" y="0"/>
                    </a:moveTo>
                    <a:lnTo>
                      <a:pt x="1127624" y="0"/>
                    </a:lnTo>
                    <a:cubicBezTo>
                      <a:pt x="1146012" y="0"/>
                      <a:pt x="1163646" y="7304"/>
                      <a:pt x="1176648" y="20306"/>
                    </a:cubicBezTo>
                    <a:cubicBezTo>
                      <a:pt x="1189650" y="33308"/>
                      <a:pt x="1196954" y="50942"/>
                      <a:pt x="1196954" y="69330"/>
                    </a:cubicBezTo>
                    <a:lnTo>
                      <a:pt x="1196954" y="69330"/>
                    </a:lnTo>
                    <a:cubicBezTo>
                      <a:pt x="1196954" y="107619"/>
                      <a:pt x="1165914" y="138659"/>
                      <a:pt x="1127624" y="138659"/>
                    </a:cubicBezTo>
                    <a:lnTo>
                      <a:pt x="69330" y="138659"/>
                    </a:lnTo>
                    <a:cubicBezTo>
                      <a:pt x="50942" y="138659"/>
                      <a:pt x="33308" y="131355"/>
                      <a:pt x="20306" y="118353"/>
                    </a:cubicBezTo>
                    <a:cubicBezTo>
                      <a:pt x="7304" y="105351"/>
                      <a:pt x="0" y="87717"/>
                      <a:pt x="0" y="69330"/>
                    </a:cubicBezTo>
                    <a:lnTo>
                      <a:pt x="0" y="69330"/>
                    </a:lnTo>
                    <a:cubicBezTo>
                      <a:pt x="0" y="50942"/>
                      <a:pt x="7304" y="33308"/>
                      <a:pt x="20306" y="20306"/>
                    </a:cubicBezTo>
                    <a:cubicBezTo>
                      <a:pt x="33308" y="7304"/>
                      <a:pt x="50942" y="0"/>
                      <a:pt x="69330" y="0"/>
                    </a:cubicBezTo>
                    <a:close/>
                  </a:path>
                </a:pathLst>
              </a:custGeom>
              <a:solidFill>
                <a:srgbClr val="158CAE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57150"/>
                <a:ext cx="1196954" cy="19580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1571017" y="100792"/>
              <a:ext cx="2815946" cy="4622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940"/>
                </a:lnSpc>
              </a:pPr>
              <a:r>
                <a:rPr lang="en-US" b="true" sz="2100" u="sng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  <a:hlinkClick r:id="rId15" tooltip="https://public.tableau.com/app/profile/dewi.ayu8697/viz/Finpro_17746833462660/Dashboard3?publish=yes"/>
                </a:rPr>
                <a:t>LINK TABLEAU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762466" y="9931837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610915" y="-84122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762466" y="-292364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8070" y="9931837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16625" y="2197130"/>
            <a:ext cx="348903" cy="348903"/>
          </a:xfrm>
          <a:custGeom>
            <a:avLst/>
            <a:gdLst/>
            <a:ahLst/>
            <a:cxnLst/>
            <a:rect r="r" b="b" t="t" l="l"/>
            <a:pathLst>
              <a:path h="348903" w="348903">
                <a:moveTo>
                  <a:pt x="0" y="0"/>
                </a:moveTo>
                <a:lnTo>
                  <a:pt x="348903" y="0"/>
                </a:lnTo>
                <a:lnTo>
                  <a:pt x="348903" y="348902"/>
                </a:lnTo>
                <a:lnTo>
                  <a:pt x="0" y="34890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3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255169" y="383056"/>
            <a:ext cx="16230600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Pemodelan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96028" y="420067"/>
            <a:ext cx="1295049" cy="1506966"/>
            <a:chOff x="0" y="0"/>
            <a:chExt cx="6985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98500" cy="812800"/>
            </a:xfrm>
            <a:custGeom>
              <a:avLst/>
              <a:gdLst/>
              <a:ahLst/>
              <a:cxnLst/>
              <a:rect r="r" b="b" t="t" l="l"/>
              <a:pathLst>
                <a:path h="812800" w="6985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158CA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82550"/>
              <a:ext cx="698500" cy="590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443848" y="698814"/>
            <a:ext cx="1169703" cy="898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5"/>
              </a:lnSpc>
            </a:pPr>
            <a:r>
              <a:rPr lang="en-US" sz="5339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3155287" y="9734501"/>
            <a:ext cx="4544685" cy="526472"/>
            <a:chOff x="0" y="0"/>
            <a:chExt cx="1196954" cy="13865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96954" cy="138659"/>
            </a:xfrm>
            <a:custGeom>
              <a:avLst/>
              <a:gdLst/>
              <a:ahLst/>
              <a:cxnLst/>
              <a:rect r="r" b="b" t="t" l="l"/>
              <a:pathLst>
                <a:path h="138659" w="1196954">
                  <a:moveTo>
                    <a:pt x="69330" y="0"/>
                  </a:moveTo>
                  <a:lnTo>
                    <a:pt x="1127624" y="0"/>
                  </a:lnTo>
                  <a:cubicBezTo>
                    <a:pt x="1146012" y="0"/>
                    <a:pt x="1163646" y="7304"/>
                    <a:pt x="1176648" y="20306"/>
                  </a:cubicBezTo>
                  <a:cubicBezTo>
                    <a:pt x="1189650" y="33308"/>
                    <a:pt x="1196954" y="50942"/>
                    <a:pt x="1196954" y="69330"/>
                  </a:cubicBezTo>
                  <a:lnTo>
                    <a:pt x="1196954" y="69330"/>
                  </a:lnTo>
                  <a:cubicBezTo>
                    <a:pt x="1196954" y="107619"/>
                    <a:pt x="1165914" y="138659"/>
                    <a:pt x="1127624" y="138659"/>
                  </a:cubicBezTo>
                  <a:lnTo>
                    <a:pt x="69330" y="138659"/>
                  </a:lnTo>
                  <a:cubicBezTo>
                    <a:pt x="50942" y="138659"/>
                    <a:pt x="33308" y="131355"/>
                    <a:pt x="20306" y="118353"/>
                  </a:cubicBezTo>
                  <a:cubicBezTo>
                    <a:pt x="7304" y="105351"/>
                    <a:pt x="0" y="87717"/>
                    <a:pt x="0" y="69330"/>
                  </a:cubicBezTo>
                  <a:lnTo>
                    <a:pt x="0" y="69330"/>
                  </a:lnTo>
                  <a:cubicBezTo>
                    <a:pt x="0" y="50942"/>
                    <a:pt x="7304" y="33308"/>
                    <a:pt x="20306" y="20306"/>
                  </a:cubicBezTo>
                  <a:cubicBezTo>
                    <a:pt x="33308" y="7304"/>
                    <a:pt x="50942" y="0"/>
                    <a:pt x="69330" y="0"/>
                  </a:cubicBezTo>
                  <a:close/>
                </a:path>
              </a:pathLst>
            </a:custGeom>
            <a:solidFill>
              <a:srgbClr val="158CAE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1196954" cy="1958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771637" y="6172200"/>
            <a:ext cx="3372160" cy="2388153"/>
          </a:xfrm>
          <a:custGeom>
            <a:avLst/>
            <a:gdLst/>
            <a:ahLst/>
            <a:cxnLst/>
            <a:rect r="r" b="b" t="t" l="l"/>
            <a:pathLst>
              <a:path h="2388153" w="3372160">
                <a:moveTo>
                  <a:pt x="0" y="0"/>
                </a:moveTo>
                <a:lnTo>
                  <a:pt x="3372160" y="0"/>
                </a:lnTo>
                <a:lnTo>
                  <a:pt x="3372160" y="2388153"/>
                </a:lnTo>
                <a:lnTo>
                  <a:pt x="0" y="238815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691076" y="7465188"/>
            <a:ext cx="3184881" cy="2297375"/>
          </a:xfrm>
          <a:custGeom>
            <a:avLst/>
            <a:gdLst/>
            <a:ahLst/>
            <a:cxnLst/>
            <a:rect r="r" b="b" t="t" l="l"/>
            <a:pathLst>
              <a:path h="2297375" w="3184881">
                <a:moveTo>
                  <a:pt x="0" y="0"/>
                </a:moveTo>
                <a:lnTo>
                  <a:pt x="3184882" y="0"/>
                </a:lnTo>
                <a:lnTo>
                  <a:pt x="3184882" y="2297375"/>
                </a:lnTo>
                <a:lnTo>
                  <a:pt x="0" y="22973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4722102" y="2283901"/>
            <a:ext cx="3184881" cy="2504898"/>
          </a:xfrm>
          <a:custGeom>
            <a:avLst/>
            <a:gdLst/>
            <a:ahLst/>
            <a:cxnLst/>
            <a:rect r="r" b="b" t="t" l="l"/>
            <a:pathLst>
              <a:path h="2504898" w="3184881">
                <a:moveTo>
                  <a:pt x="0" y="0"/>
                </a:moveTo>
                <a:lnTo>
                  <a:pt x="3184881" y="0"/>
                </a:lnTo>
                <a:lnTo>
                  <a:pt x="3184881" y="2504897"/>
                </a:lnTo>
                <a:lnTo>
                  <a:pt x="0" y="250489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691076" y="2197130"/>
            <a:ext cx="7060232" cy="2726605"/>
          </a:xfrm>
          <a:custGeom>
            <a:avLst/>
            <a:gdLst/>
            <a:ahLst/>
            <a:cxnLst/>
            <a:rect r="r" b="b" t="t" l="l"/>
            <a:pathLst>
              <a:path h="2726605" w="7060232">
                <a:moveTo>
                  <a:pt x="0" y="0"/>
                </a:moveTo>
                <a:lnTo>
                  <a:pt x="7060233" y="0"/>
                </a:lnTo>
                <a:lnTo>
                  <a:pt x="7060233" y="2726605"/>
                </a:lnTo>
                <a:lnTo>
                  <a:pt x="0" y="27266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676425" y="5374807"/>
            <a:ext cx="5047263" cy="1862681"/>
          </a:xfrm>
          <a:custGeom>
            <a:avLst/>
            <a:gdLst/>
            <a:ahLst/>
            <a:cxnLst/>
            <a:rect r="r" b="b" t="t" l="l"/>
            <a:pathLst>
              <a:path h="1862681" w="5047263">
                <a:moveTo>
                  <a:pt x="0" y="0"/>
                </a:moveTo>
                <a:lnTo>
                  <a:pt x="5047263" y="0"/>
                </a:lnTo>
                <a:lnTo>
                  <a:pt x="5047263" y="1862681"/>
                </a:lnTo>
                <a:lnTo>
                  <a:pt x="0" y="186268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9736703" y="2283901"/>
            <a:ext cx="4835208" cy="1592774"/>
          </a:xfrm>
          <a:custGeom>
            <a:avLst/>
            <a:gdLst/>
            <a:ahLst/>
            <a:cxnLst/>
            <a:rect r="r" b="b" t="t" l="l"/>
            <a:pathLst>
              <a:path h="1592774" w="4835208">
                <a:moveTo>
                  <a:pt x="0" y="0"/>
                </a:moveTo>
                <a:lnTo>
                  <a:pt x="4835208" y="0"/>
                </a:lnTo>
                <a:lnTo>
                  <a:pt x="4835208" y="1592774"/>
                </a:lnTo>
                <a:lnTo>
                  <a:pt x="0" y="159277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783470" y="6172200"/>
            <a:ext cx="4816717" cy="1371348"/>
          </a:xfrm>
          <a:custGeom>
            <a:avLst/>
            <a:gdLst/>
            <a:ahLst/>
            <a:cxnLst/>
            <a:rect r="r" b="b" t="t" l="l"/>
            <a:pathLst>
              <a:path h="1371348" w="4816717">
                <a:moveTo>
                  <a:pt x="0" y="0"/>
                </a:moveTo>
                <a:lnTo>
                  <a:pt x="4816717" y="0"/>
                </a:lnTo>
                <a:lnTo>
                  <a:pt x="4816717" y="1371348"/>
                </a:lnTo>
                <a:lnTo>
                  <a:pt x="0" y="137134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4012186" y="9696401"/>
            <a:ext cx="2111959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b="true" sz="2100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  <a:hlinkClick r:id="rId20" tooltip="https://colab.research.google.com/drive/1nPJj3q3xsfNEPD-qH0ha4mSpXfgnsgTk?usp=sharing"/>
              </a:rPr>
              <a:t>LINK COLAB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65528" y="1698141"/>
            <a:ext cx="1858229" cy="317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6"/>
              </a:lnSpc>
              <a:spcBef>
                <a:spcPct val="0"/>
              </a:spcBef>
            </a:pPr>
            <a:r>
              <a:rPr lang="en-US" b="true" sz="1782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1. Data Splitting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676425" y="5057085"/>
            <a:ext cx="3717375" cy="317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4930" indent="-192465" lvl="1">
              <a:lnSpc>
                <a:spcPts val="2496"/>
              </a:lnSpc>
              <a:spcBef>
                <a:spcPct val="0"/>
              </a:spcBef>
              <a:buAutoNum type="arabicPeriod" startAt="1"/>
            </a:pPr>
            <a:r>
              <a:rPr lang="en-US" b="true" sz="1782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Training Logistic Regression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736703" y="1879407"/>
            <a:ext cx="3418584" cy="317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4930" indent="-192465" lvl="1">
              <a:lnSpc>
                <a:spcPts val="2496"/>
              </a:lnSpc>
              <a:spcBef>
                <a:spcPct val="0"/>
              </a:spcBef>
              <a:buAutoNum type="arabicPeriod" startAt="1"/>
            </a:pPr>
            <a:r>
              <a:rPr lang="en-US" b="true" sz="1782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Training Decision Tree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811745" y="5733240"/>
            <a:ext cx="3418584" cy="317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4930" indent="-192465" lvl="1">
              <a:lnSpc>
                <a:spcPts val="2496"/>
              </a:lnSpc>
              <a:spcBef>
                <a:spcPct val="0"/>
              </a:spcBef>
              <a:buAutoNum type="arabicPeriod" startAt="1"/>
            </a:pPr>
            <a:r>
              <a:rPr lang="en-US" b="true" sz="1782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Training Random Forest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555840" y="4833829"/>
            <a:ext cx="3859860" cy="7642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2"/>
              </a:lnSpc>
            </a:pPr>
            <a:r>
              <a:rPr lang="en-US" sz="142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Accuracy : 0.6650 </a:t>
            </a:r>
          </a:p>
          <a:p>
            <a:pPr algn="l">
              <a:lnSpc>
                <a:spcPts val="1992"/>
              </a:lnSpc>
            </a:pPr>
            <a:r>
              <a:rPr lang="en-US" sz="142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Precision : 0.3178 </a:t>
            </a:r>
          </a:p>
          <a:p>
            <a:pPr algn="l">
              <a:lnSpc>
                <a:spcPts val="1992"/>
              </a:lnSpc>
              <a:spcBef>
                <a:spcPct val="0"/>
              </a:spcBef>
            </a:pPr>
            <a:r>
              <a:rPr lang="en-US" sz="142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Recall : 0.3579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045917" y="7417563"/>
            <a:ext cx="4835208" cy="945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178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Accuracy : 0.7875 </a:t>
            </a:r>
          </a:p>
          <a:p>
            <a:pPr algn="l">
              <a:lnSpc>
                <a:spcPts val="2496"/>
              </a:lnSpc>
            </a:pPr>
            <a:r>
              <a:rPr lang="en-US" sz="178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Precision : 0.7083 </a:t>
            </a:r>
          </a:p>
          <a:p>
            <a:pPr algn="l">
              <a:lnSpc>
                <a:spcPts val="2496"/>
              </a:lnSpc>
              <a:spcBef>
                <a:spcPct val="0"/>
              </a:spcBef>
            </a:pPr>
            <a:r>
              <a:rPr lang="en-US" sz="178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Recall : 0.1789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897176" y="8607978"/>
            <a:ext cx="2202618" cy="945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178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Accuracy : 0.7450 </a:t>
            </a:r>
          </a:p>
          <a:p>
            <a:pPr algn="l">
              <a:lnSpc>
                <a:spcPts val="2496"/>
              </a:lnSpc>
            </a:pPr>
            <a:r>
              <a:rPr lang="en-US" sz="178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Precision : 0.4000 </a:t>
            </a:r>
          </a:p>
          <a:p>
            <a:pPr algn="l">
              <a:lnSpc>
                <a:spcPts val="2496"/>
              </a:lnSpc>
              <a:spcBef>
                <a:spcPct val="0"/>
              </a:spcBef>
            </a:pPr>
            <a:r>
              <a:rPr lang="en-US" sz="178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Recall : 0.1474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045917" y="8560772"/>
            <a:ext cx="4765828" cy="1407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7"/>
              </a:lnSpc>
              <a:spcBef>
                <a:spcPct val="0"/>
              </a:spcBef>
            </a:pPr>
            <a:r>
              <a:rPr lang="en-US" sz="1326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Model ini meraih Akurasi tertinggi (78.75%), sangat akurat dalam menebak orang yang benar-benar sehat. Namun, model ini paling lemah dalam mendeteksi orang sakit (nilai Recall hanya 17.89%), sehingga banyak pasien berisiko yang justru terdeteksi sehat (False Negative).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811745" y="3886158"/>
            <a:ext cx="4760166" cy="145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20"/>
              </a:lnSpc>
            </a:pPr>
            <a:r>
              <a:rPr lang="en-US" sz="137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Meskipun Akurasi turun ke 66.50%, model ini adalah yang paling sensitif dalam menemukan pasien berisiko diabetes. Dengan nilai Recall tertinggi (35.79%), model ini lebih direkomendasikan untuk kebutuhan screening kesehatan agar meminimalisir pasien sakit yang terlewat.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881125" y="7553073"/>
            <a:ext cx="4760166" cy="145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20"/>
              </a:lnSpc>
            </a:pPr>
            <a:r>
              <a:rPr lang="en-US" sz="137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ini berada di titik tengah dengan Akurasi stabil (74.50%). Random Forest sangat kuat dalam mengklasifikasikan data orang sehat, namun masih memiliki performa deteksi risiko yang rendah (nilai Recall 14.74%) dibandingkan dengan model Decision Tree.sakit yang terlewat.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98206" y="-405336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762466" y="9931837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90725" y="9931837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762466" y="-310086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533576" y="152400"/>
            <a:ext cx="16878124" cy="2015863"/>
            <a:chOff x="0" y="0"/>
            <a:chExt cx="22504166" cy="2687817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863366" y="-161925"/>
              <a:ext cx="21640800" cy="12930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840"/>
                </a:lnSpc>
                <a:spcBef>
                  <a:spcPct val="0"/>
                </a:spcBef>
              </a:pPr>
              <a:r>
                <a:rPr lang="en-US" b="true" sz="5600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Visualisasi Dashboard</a:t>
              </a:r>
            </a:p>
          </p:txBody>
        </p:sp>
        <p:grpSp>
          <p:nvGrpSpPr>
            <p:cNvPr name="Group 9" id="9"/>
            <p:cNvGrpSpPr/>
            <p:nvPr/>
          </p:nvGrpSpPr>
          <p:grpSpPr>
            <a:xfrm rot="0">
              <a:off x="0" y="678529"/>
              <a:ext cx="1726732" cy="2009288"/>
              <a:chOff x="0" y="0"/>
              <a:chExt cx="6985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E6092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12" id="12"/>
            <p:cNvSpPr txBox="true"/>
            <p:nvPr/>
          </p:nvSpPr>
          <p:spPr>
            <a:xfrm rot="0">
              <a:off x="83564" y="963501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10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9884" y="6997854"/>
            <a:ext cx="3560010" cy="897947"/>
            <a:chOff x="0" y="0"/>
            <a:chExt cx="937616" cy="23649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37616" cy="236496"/>
            </a:xfrm>
            <a:custGeom>
              <a:avLst/>
              <a:gdLst/>
              <a:ahLst/>
              <a:cxnLst/>
              <a:rect r="r" b="b" t="t" l="l"/>
              <a:pathLst>
                <a:path h="236496" w="937616">
                  <a:moveTo>
                    <a:pt x="108735" y="0"/>
                  </a:moveTo>
                  <a:lnTo>
                    <a:pt x="828881" y="0"/>
                  </a:lnTo>
                  <a:cubicBezTo>
                    <a:pt x="857720" y="0"/>
                    <a:pt x="885377" y="11456"/>
                    <a:pt x="905768" y="31848"/>
                  </a:cubicBezTo>
                  <a:cubicBezTo>
                    <a:pt x="926160" y="52239"/>
                    <a:pt x="937616" y="79896"/>
                    <a:pt x="937616" y="108735"/>
                  </a:cubicBezTo>
                  <a:lnTo>
                    <a:pt x="937616" y="127762"/>
                  </a:lnTo>
                  <a:cubicBezTo>
                    <a:pt x="937616" y="187814"/>
                    <a:pt x="888934" y="236496"/>
                    <a:pt x="828881" y="236496"/>
                  </a:cubicBezTo>
                  <a:lnTo>
                    <a:pt x="108735" y="236496"/>
                  </a:lnTo>
                  <a:cubicBezTo>
                    <a:pt x="79896" y="236496"/>
                    <a:pt x="52239" y="225041"/>
                    <a:pt x="31848" y="204649"/>
                  </a:cubicBezTo>
                  <a:cubicBezTo>
                    <a:pt x="11456" y="184257"/>
                    <a:pt x="0" y="156600"/>
                    <a:pt x="0" y="127762"/>
                  </a:cubicBezTo>
                  <a:lnTo>
                    <a:pt x="0" y="108735"/>
                  </a:lnTo>
                  <a:cubicBezTo>
                    <a:pt x="0" y="79896"/>
                    <a:pt x="11456" y="52239"/>
                    <a:pt x="31848" y="31848"/>
                  </a:cubicBezTo>
                  <a:cubicBezTo>
                    <a:pt x="52239" y="11456"/>
                    <a:pt x="79896" y="0"/>
                    <a:pt x="108735" y="0"/>
                  </a:cubicBezTo>
                  <a:close/>
                </a:path>
              </a:pathLst>
            </a:custGeom>
            <a:solidFill>
              <a:srgbClr val="158CAE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937616" cy="2936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042859" y="7063923"/>
            <a:ext cx="1654372" cy="727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b="true" sz="2100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  <a:hlinkClick r:id="rId11" tooltip="https://public.tableau.com/app/profile/dewi.ayu8697/viz/Finpro_17746833462660/Dashboard3?publish=yes"/>
              </a:rPr>
              <a:t>LINK TABLEAU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5071840" y="1793103"/>
            <a:ext cx="11873568" cy="6700794"/>
          </a:xfrm>
          <a:custGeom>
            <a:avLst/>
            <a:gdLst/>
            <a:ahLst/>
            <a:cxnLst/>
            <a:rect r="r" b="b" t="t" l="l"/>
            <a:pathLst>
              <a:path h="6700794" w="11873568">
                <a:moveTo>
                  <a:pt x="0" y="0"/>
                </a:moveTo>
                <a:lnTo>
                  <a:pt x="11873568" y="0"/>
                </a:lnTo>
                <a:lnTo>
                  <a:pt x="11873568" y="6700794"/>
                </a:lnTo>
                <a:lnTo>
                  <a:pt x="0" y="670079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762466" y="9931837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610915" y="-84122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762466" y="-292364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8070" y="9931837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85976" y="250504"/>
            <a:ext cx="16878124" cy="2070159"/>
            <a:chOff x="0" y="0"/>
            <a:chExt cx="22504166" cy="2760211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863366" y="-161925"/>
              <a:ext cx="21640800" cy="12930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840"/>
                </a:lnSpc>
                <a:spcBef>
                  <a:spcPct val="0"/>
                </a:spcBef>
              </a:pPr>
              <a:r>
                <a:rPr lang="en-US" b="true" sz="5600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Rencana Pengembangan</a:t>
              </a:r>
            </a:p>
          </p:txBody>
        </p:sp>
        <p:grpSp>
          <p:nvGrpSpPr>
            <p:cNvPr name="Group 9" id="9"/>
            <p:cNvGrpSpPr/>
            <p:nvPr/>
          </p:nvGrpSpPr>
          <p:grpSpPr>
            <a:xfrm rot="0">
              <a:off x="0" y="750924"/>
              <a:ext cx="1726732" cy="2009288"/>
              <a:chOff x="0" y="0"/>
              <a:chExt cx="6985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A769F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82550"/>
                <a:ext cx="698500" cy="590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TextBox 12" id="12"/>
            <p:cNvSpPr txBox="true"/>
            <p:nvPr/>
          </p:nvSpPr>
          <p:spPr>
            <a:xfrm rot="0">
              <a:off x="83564" y="1035896"/>
              <a:ext cx="1559604" cy="116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5"/>
                </a:lnSpc>
              </a:pPr>
              <a:r>
                <a:rPr lang="en-US" sz="5339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2435851" y="3045224"/>
            <a:ext cx="13416298" cy="5150476"/>
            <a:chOff x="0" y="0"/>
            <a:chExt cx="17888397" cy="6867302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1830307" y="46645"/>
              <a:ext cx="6720168" cy="3071794"/>
              <a:chOff x="0" y="0"/>
              <a:chExt cx="1327441" cy="606774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1327441" cy="606774"/>
              </a:xfrm>
              <a:custGeom>
                <a:avLst/>
                <a:gdLst/>
                <a:ahLst/>
                <a:cxnLst/>
                <a:rect r="r" b="b" t="t" l="l"/>
                <a:pathLst>
                  <a:path h="606774" w="1327441">
                    <a:moveTo>
                      <a:pt x="90627" y="0"/>
                    </a:moveTo>
                    <a:lnTo>
                      <a:pt x="1236813" y="0"/>
                    </a:lnTo>
                    <a:cubicBezTo>
                      <a:pt x="1286865" y="0"/>
                      <a:pt x="1327441" y="40575"/>
                      <a:pt x="1327441" y="90627"/>
                    </a:cubicBezTo>
                    <a:lnTo>
                      <a:pt x="1327441" y="516147"/>
                    </a:lnTo>
                    <a:cubicBezTo>
                      <a:pt x="1327441" y="540183"/>
                      <a:pt x="1317892" y="563234"/>
                      <a:pt x="1300896" y="580230"/>
                    </a:cubicBezTo>
                    <a:cubicBezTo>
                      <a:pt x="1283901" y="597226"/>
                      <a:pt x="1260849" y="606774"/>
                      <a:pt x="1236813" y="606774"/>
                    </a:cubicBezTo>
                    <a:lnTo>
                      <a:pt x="90627" y="606774"/>
                    </a:lnTo>
                    <a:cubicBezTo>
                      <a:pt x="66591" y="606774"/>
                      <a:pt x="43540" y="597226"/>
                      <a:pt x="26544" y="580230"/>
                    </a:cubicBezTo>
                    <a:cubicBezTo>
                      <a:pt x="9548" y="563234"/>
                      <a:pt x="0" y="540183"/>
                      <a:pt x="0" y="516147"/>
                    </a:cubicBezTo>
                    <a:lnTo>
                      <a:pt x="0" y="90627"/>
                    </a:lnTo>
                    <a:cubicBezTo>
                      <a:pt x="0" y="66591"/>
                      <a:pt x="9548" y="43540"/>
                      <a:pt x="26544" y="26544"/>
                    </a:cubicBezTo>
                    <a:cubicBezTo>
                      <a:pt x="43540" y="9548"/>
                      <a:pt x="66591" y="0"/>
                      <a:pt x="90627" y="0"/>
                    </a:cubicBezTo>
                    <a:close/>
                  </a:path>
                </a:pathLst>
              </a:custGeom>
              <a:solidFill>
                <a:srgbClr val="158CAE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-57150"/>
                <a:ext cx="1327441" cy="6639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0" y="93290"/>
              <a:ext cx="2978503" cy="2978503"/>
            </a:xfrm>
            <a:custGeom>
              <a:avLst/>
              <a:gdLst/>
              <a:ahLst/>
              <a:cxnLst/>
              <a:rect r="r" b="b" t="t" l="l"/>
              <a:pathLst>
                <a:path h="2978503" w="2978503">
                  <a:moveTo>
                    <a:pt x="0" y="0"/>
                  </a:moveTo>
                  <a:lnTo>
                    <a:pt x="2978503" y="0"/>
                  </a:lnTo>
                  <a:lnTo>
                    <a:pt x="2978503" y="2978504"/>
                  </a:lnTo>
                  <a:lnTo>
                    <a:pt x="0" y="2978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2610288" y="240156"/>
              <a:ext cx="5940187" cy="26371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02"/>
                </a:lnSpc>
              </a:pPr>
              <a:r>
                <a:rPr lang="en-US" sz="2287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Integrasi Mobile: Mengembangkan model ini menjadi fitur di aplikasi kesehatan (seperti Satusehat) untuk self-assessment.</a:t>
              </a:r>
            </a:p>
          </p:txBody>
        </p:sp>
        <p:grpSp>
          <p:nvGrpSpPr>
            <p:cNvPr name="Group 19" id="19"/>
            <p:cNvGrpSpPr/>
            <p:nvPr/>
          </p:nvGrpSpPr>
          <p:grpSpPr>
            <a:xfrm rot="0">
              <a:off x="9972411" y="0"/>
              <a:ext cx="7915986" cy="3071794"/>
              <a:chOff x="0" y="0"/>
              <a:chExt cx="1563652" cy="606774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563652" cy="606774"/>
              </a:xfrm>
              <a:custGeom>
                <a:avLst/>
                <a:gdLst/>
                <a:ahLst/>
                <a:cxnLst/>
                <a:rect r="r" b="b" t="t" l="l"/>
                <a:pathLst>
                  <a:path h="606774" w="1563652">
                    <a:moveTo>
                      <a:pt x="76937" y="0"/>
                    </a:moveTo>
                    <a:lnTo>
                      <a:pt x="1486715" y="0"/>
                    </a:lnTo>
                    <a:cubicBezTo>
                      <a:pt x="1529206" y="0"/>
                      <a:pt x="1563652" y="34446"/>
                      <a:pt x="1563652" y="76937"/>
                    </a:cubicBezTo>
                    <a:lnTo>
                      <a:pt x="1563652" y="529837"/>
                    </a:lnTo>
                    <a:cubicBezTo>
                      <a:pt x="1563652" y="572328"/>
                      <a:pt x="1529206" y="606774"/>
                      <a:pt x="1486715" y="606774"/>
                    </a:cubicBezTo>
                    <a:lnTo>
                      <a:pt x="76937" y="606774"/>
                    </a:lnTo>
                    <a:cubicBezTo>
                      <a:pt x="34446" y="606774"/>
                      <a:pt x="0" y="572328"/>
                      <a:pt x="0" y="529837"/>
                    </a:cubicBezTo>
                    <a:lnTo>
                      <a:pt x="0" y="76937"/>
                    </a:lnTo>
                    <a:cubicBezTo>
                      <a:pt x="0" y="34446"/>
                      <a:pt x="34446" y="0"/>
                      <a:pt x="76937" y="0"/>
                    </a:cubicBezTo>
                    <a:close/>
                  </a:path>
                </a:pathLst>
              </a:custGeom>
              <a:solidFill>
                <a:srgbClr val="158CAE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57150"/>
                <a:ext cx="1563652" cy="6639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9005053" y="145597"/>
              <a:ext cx="3186947" cy="2926196"/>
            </a:xfrm>
            <a:custGeom>
              <a:avLst/>
              <a:gdLst/>
              <a:ahLst/>
              <a:cxnLst/>
              <a:rect r="r" b="b" t="t" l="l"/>
              <a:pathLst>
                <a:path h="2926196" w="3186947">
                  <a:moveTo>
                    <a:pt x="0" y="0"/>
                  </a:moveTo>
                  <a:lnTo>
                    <a:pt x="3186947" y="0"/>
                  </a:lnTo>
                  <a:lnTo>
                    <a:pt x="3186947" y="2926197"/>
                  </a:lnTo>
                  <a:lnTo>
                    <a:pt x="0" y="29261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2166717" y="334252"/>
              <a:ext cx="5696397" cy="23651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78"/>
                </a:lnSpc>
              </a:pPr>
              <a:r>
                <a:rPr lang="en-US" sz="2055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Integrasi Sistem Informasi Kesehatan: Menghubungkan model prediksi ini dengan sistem rekam medis elektronik (EHR) di Puskesmas atau RS</a:t>
              </a:r>
            </a:p>
          </p:txBody>
        </p:sp>
        <p:grpSp>
          <p:nvGrpSpPr>
            <p:cNvPr name="Group 24" id="24"/>
            <p:cNvGrpSpPr/>
            <p:nvPr/>
          </p:nvGrpSpPr>
          <p:grpSpPr>
            <a:xfrm rot="0">
              <a:off x="5476298" y="3795508"/>
              <a:ext cx="7915986" cy="3071794"/>
              <a:chOff x="0" y="0"/>
              <a:chExt cx="1563652" cy="606774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1563652" cy="606774"/>
              </a:xfrm>
              <a:custGeom>
                <a:avLst/>
                <a:gdLst/>
                <a:ahLst/>
                <a:cxnLst/>
                <a:rect r="r" b="b" t="t" l="l"/>
                <a:pathLst>
                  <a:path h="606774" w="1563652">
                    <a:moveTo>
                      <a:pt x="76937" y="0"/>
                    </a:moveTo>
                    <a:lnTo>
                      <a:pt x="1486715" y="0"/>
                    </a:lnTo>
                    <a:cubicBezTo>
                      <a:pt x="1529206" y="0"/>
                      <a:pt x="1563652" y="34446"/>
                      <a:pt x="1563652" y="76937"/>
                    </a:cubicBezTo>
                    <a:lnTo>
                      <a:pt x="1563652" y="529837"/>
                    </a:lnTo>
                    <a:cubicBezTo>
                      <a:pt x="1563652" y="572328"/>
                      <a:pt x="1529206" y="606774"/>
                      <a:pt x="1486715" y="606774"/>
                    </a:cubicBezTo>
                    <a:lnTo>
                      <a:pt x="76937" y="606774"/>
                    </a:lnTo>
                    <a:cubicBezTo>
                      <a:pt x="34446" y="606774"/>
                      <a:pt x="0" y="572328"/>
                      <a:pt x="0" y="529837"/>
                    </a:cubicBezTo>
                    <a:lnTo>
                      <a:pt x="0" y="76937"/>
                    </a:lnTo>
                    <a:cubicBezTo>
                      <a:pt x="0" y="34446"/>
                      <a:pt x="34446" y="0"/>
                      <a:pt x="76937" y="0"/>
                    </a:cubicBezTo>
                    <a:close/>
                  </a:path>
                </a:pathLst>
              </a:custGeom>
              <a:solidFill>
                <a:srgbClr val="158CAE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57150"/>
                <a:ext cx="1563652" cy="6639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4617822" y="3795508"/>
              <a:ext cx="2226929" cy="2895535"/>
            </a:xfrm>
            <a:custGeom>
              <a:avLst/>
              <a:gdLst/>
              <a:ahLst/>
              <a:cxnLst/>
              <a:rect r="r" b="b" t="t" l="l"/>
              <a:pathLst>
                <a:path h="2895535" w="2226929">
                  <a:moveTo>
                    <a:pt x="0" y="0"/>
                  </a:moveTo>
                  <a:lnTo>
                    <a:pt x="2226930" y="0"/>
                  </a:lnTo>
                  <a:lnTo>
                    <a:pt x="2226930" y="2895535"/>
                  </a:lnTo>
                  <a:lnTo>
                    <a:pt x="0" y="2895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7299330" y="3890088"/>
              <a:ext cx="5344210" cy="2844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78"/>
                </a:lnSpc>
              </a:pPr>
              <a:r>
                <a:rPr lang="en-US" sz="2055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Smartwatch Integration: Memanfaatkan data dari smartwatch (langkah per hari, detak jantung) untuk input data gaya hidup secara otomatis ke dalam model.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762466" y="9931837"/>
            <a:ext cx="1028700" cy="753523"/>
          </a:xfrm>
          <a:custGeom>
            <a:avLst/>
            <a:gdLst/>
            <a:ahLst/>
            <a:cxnLst/>
            <a:rect r="r" b="b" t="t" l="l"/>
            <a:pathLst>
              <a:path h="753523" w="1028700">
                <a:moveTo>
                  <a:pt x="0" y="0"/>
                </a:moveTo>
                <a:lnTo>
                  <a:pt x="1028700" y="0"/>
                </a:lnTo>
                <a:lnTo>
                  <a:pt x="1028700" y="753522"/>
                </a:lnTo>
                <a:lnTo>
                  <a:pt x="0" y="753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610915" y="-84122"/>
            <a:ext cx="1141408" cy="432308"/>
          </a:xfrm>
          <a:custGeom>
            <a:avLst/>
            <a:gdLst/>
            <a:ahLst/>
            <a:cxnLst/>
            <a:rect r="r" b="b" t="t" l="l"/>
            <a:pathLst>
              <a:path h="432308" w="1141408">
                <a:moveTo>
                  <a:pt x="0" y="0"/>
                </a:moveTo>
                <a:lnTo>
                  <a:pt x="1141409" y="0"/>
                </a:lnTo>
                <a:lnTo>
                  <a:pt x="1141409" y="432308"/>
                </a:lnTo>
                <a:lnTo>
                  <a:pt x="0" y="432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762466" y="-292364"/>
            <a:ext cx="821219" cy="640551"/>
          </a:xfrm>
          <a:custGeom>
            <a:avLst/>
            <a:gdLst/>
            <a:ahLst/>
            <a:cxnLst/>
            <a:rect r="r" b="b" t="t" l="l"/>
            <a:pathLst>
              <a:path h="640551" w="821219">
                <a:moveTo>
                  <a:pt x="0" y="0"/>
                </a:moveTo>
                <a:lnTo>
                  <a:pt x="821219" y="0"/>
                </a:lnTo>
                <a:lnTo>
                  <a:pt x="821219" y="640550"/>
                </a:lnTo>
                <a:lnTo>
                  <a:pt x="0" y="6405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8070" y="9931837"/>
            <a:ext cx="838564" cy="658273"/>
          </a:xfrm>
          <a:custGeom>
            <a:avLst/>
            <a:gdLst/>
            <a:ahLst/>
            <a:cxnLst/>
            <a:rect r="r" b="b" t="t" l="l"/>
            <a:pathLst>
              <a:path h="658273" w="838564">
                <a:moveTo>
                  <a:pt x="0" y="0"/>
                </a:moveTo>
                <a:lnTo>
                  <a:pt x="838564" y="0"/>
                </a:lnTo>
                <a:lnTo>
                  <a:pt x="838564" y="658272"/>
                </a:lnTo>
                <a:lnTo>
                  <a:pt x="0" y="6582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3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104900" y="980325"/>
            <a:ext cx="16230600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Kesimpulan dan Rekomendasi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33576" y="857083"/>
            <a:ext cx="1295049" cy="1506966"/>
            <a:chOff x="0" y="0"/>
            <a:chExt cx="6985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98500" cy="812800"/>
            </a:xfrm>
            <a:custGeom>
              <a:avLst/>
              <a:gdLst/>
              <a:ahLst/>
              <a:cxnLst/>
              <a:rect r="r" b="b" t="t" l="l"/>
              <a:pathLst>
                <a:path h="812800" w="6985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5A64B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82550"/>
              <a:ext cx="698500" cy="590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596248" y="1047000"/>
            <a:ext cx="1169703" cy="898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5"/>
              </a:lnSpc>
            </a:pPr>
            <a:r>
              <a:rPr lang="en-US" sz="5339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2527736"/>
            <a:ext cx="16383000" cy="6390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Kesimpulan:</a:t>
            </a:r>
          </a:p>
          <a:p>
            <a:pPr algn="l" marL="493928" indent="-246964" lvl="1">
              <a:lnSpc>
                <a:spcPts val="3202"/>
              </a:lnSpc>
              <a:buFont typeface="Arial"/>
              <a:buChar char="•"/>
            </a:pPr>
            <a:r>
              <a:rPr lang="en-US" b="true" sz="2287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Korelasi Faktor Kesehatan</a:t>
            </a: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: Proyek ini membuktikan bahwa kondisi Kesehatan Fisik (PhysHlth), persepsi Kesehatan Umum (GenHlth), dan faktor Usia (Age) merupakan prediktor untuk memetakan risiko diabetes tanpa data laboratorium.</a:t>
            </a:r>
          </a:p>
          <a:p>
            <a:pPr algn="l" marL="493928" indent="-246964" lvl="1">
              <a:lnSpc>
                <a:spcPts val="3202"/>
              </a:lnSpc>
              <a:buFont typeface="Arial"/>
              <a:buChar char="•"/>
            </a:pPr>
            <a:r>
              <a:rPr lang="en-US" b="true" sz="2287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 Model</a:t>
            </a: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: Model Logistic Regression mencapai akurasi tertinggi (78.75%), namun untuk kebutuhan deteksi medis, model Decision Tree lebih unggul karena memiliki nilai Recall (35.79%) yang lebih baik dalam menangkap responden berisiko.</a:t>
            </a:r>
          </a:p>
          <a:p>
            <a:pPr algn="l">
              <a:lnSpc>
                <a:spcPts val="3202"/>
              </a:lnSpc>
            </a:pPr>
          </a:p>
          <a:p>
            <a:pPr algn="l">
              <a:lnSpc>
                <a:spcPts val="3202"/>
              </a:lnSpc>
            </a:pP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Rekomendasi:</a:t>
            </a:r>
          </a:p>
          <a:p>
            <a:pPr algn="l" marL="493928" indent="-246964" lvl="1">
              <a:lnSpc>
                <a:spcPts val="3202"/>
              </a:lnSpc>
              <a:buFont typeface="Arial"/>
              <a:buChar char="•"/>
            </a:pPr>
            <a:r>
              <a:rPr lang="en-US" b="true" sz="2287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Fokus pada Kelompok Rentan</a:t>
            </a: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: Instansi kesehatan disarankan memberikan perhatian lebih pada responden dengan skor GenHlth yang rendah dan kategori usia lanjut untuk pemeriksaan diabetes lebih mendalam.</a:t>
            </a:r>
          </a:p>
          <a:p>
            <a:pPr algn="l" marL="493928" indent="-246964" lvl="1">
              <a:lnSpc>
                <a:spcPts val="3202"/>
              </a:lnSpc>
              <a:buFont typeface="Arial"/>
              <a:buChar char="•"/>
            </a:pPr>
            <a:r>
              <a:rPr lang="en-US" b="true" sz="2287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Prioritas Deteksi (Recall)</a:t>
            </a:r>
            <a:r>
              <a:rPr lang="en-US" sz="22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: Dalam pengembangan sistem kesehatan digital, pengembang harus memprioritaskan algoritma dengan Recall tinggi agar tidak melewatkan individu yang benar-benar sakit (meminimalkan False Negative).</a:t>
            </a:r>
          </a:p>
          <a:p>
            <a:pPr algn="l">
              <a:lnSpc>
                <a:spcPts val="3202"/>
              </a:lnSpc>
            </a:pPr>
          </a:p>
          <a:p>
            <a:pPr algn="l">
              <a:lnSpc>
                <a:spcPts val="3202"/>
              </a:lnSpc>
            </a:pP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9884" y="4117"/>
            <a:ext cx="18481146" cy="12336165"/>
          </a:xfrm>
          <a:custGeom>
            <a:avLst/>
            <a:gdLst/>
            <a:ahLst/>
            <a:cxnLst/>
            <a:rect r="r" b="b" t="t" l="l"/>
            <a:pathLst>
              <a:path h="12336165" w="18481146">
                <a:moveTo>
                  <a:pt x="0" y="0"/>
                </a:moveTo>
                <a:lnTo>
                  <a:pt x="18481146" y="0"/>
                </a:lnTo>
                <a:lnTo>
                  <a:pt x="18481146" y="12336166"/>
                </a:lnTo>
                <a:lnTo>
                  <a:pt x="0" y="1233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-1189137" y="4602943"/>
            <a:ext cx="20666275" cy="12897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82"/>
              </a:lnSpc>
              <a:spcBef>
                <a:spcPct val="0"/>
              </a:spcBef>
            </a:pPr>
            <a:r>
              <a:rPr lang="en-US" b="true" sz="713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DAHEwafSMlY</dc:identifier>
  <dcterms:modified xsi:type="dcterms:W3CDTF">2011-08-01T06:04:30Z</dcterms:modified>
  <cp:revision>1</cp:revision>
  <dc:title>Final Project Group 1</dc:title>
</cp:coreProperties>
</file>